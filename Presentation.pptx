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Archivo Black" charset="1" panose="020B0A03020202020B04"/>
      <p:regular r:id="rId39"/>
    </p:embeddedFont>
    <p:embeddedFont>
      <p:font typeface="Calistoga" charset="1" panose="00000500000000000000"/>
      <p:regular r:id="rId40"/>
    </p:embeddedFont>
    <p:embeddedFont>
      <p:font typeface="Garet Bold" charset="1" panose="00000000000000000000"/>
      <p:regular r:id="rId41"/>
    </p:embeddedFont>
    <p:embeddedFont>
      <p:font typeface="Garet" charset="1" panose="00000000000000000000"/>
      <p:regular r:id="rId42"/>
    </p:embeddedFont>
    <p:embeddedFont>
      <p:font typeface="Canva Sans Bold" charset="1" panose="020B0803030501040103"/>
      <p:regular r:id="rId43"/>
    </p:embeddedFont>
    <p:embeddedFont>
      <p:font typeface="Canva Sans" charset="1" panose="020B0503030501040103"/>
      <p:regular r:id="rId44"/>
    </p:embeddedFont>
    <p:embeddedFont>
      <p:font typeface="Montserrat Bold" charset="1" panose="000008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https://www.canva.com/design/DAHFHtqRDLA/BwT7wHFY-34H4wM9c8b5ew/edit" TargetMode="External" Type="http://schemas.openxmlformats.org/officeDocument/2006/relationships/hyperlink"/><Relationship Id="rId7" Target="https://www.canva.com/design/DAHFHtqRDLA/BwT7wHFY-34H4wM9c8b5ew/edit"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bin" Type="http://schemas.openxmlformats.org/officeDocument/2006/relationships/oleObject"/><Relationship Id="rId4" Target="../media/image15.png" Type="http://schemas.openxmlformats.org/officeDocument/2006/relationships/image"/><Relationship Id="rId5" Target="../embeddings/oleObject2.bin" Type="http://schemas.openxmlformats.org/officeDocument/2006/relationships/oleObject"/><Relationship Id="rId6"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3.bin" Type="http://schemas.openxmlformats.org/officeDocument/2006/relationships/oleObject"/><Relationship Id="rId4" Target="../media/image17.png" Type="http://schemas.openxmlformats.org/officeDocument/2006/relationships/image"/><Relationship Id="rId5" Target="../embeddings/oleObject4.bin" Type="http://schemas.openxmlformats.org/officeDocument/2006/relationships/oleObject"/><Relationship Id="rId6"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png" Type="http://schemas.openxmlformats.org/officeDocument/2006/relationships/image"/><Relationship Id="rId4" Target="../embeddings/oleObject5.bin" Type="http://schemas.openxmlformats.org/officeDocument/2006/relationships/oleObject"/><Relationship Id="rId5" Target="../media/image19.png" Type="http://schemas.openxmlformats.org/officeDocument/2006/relationships/image"/><Relationship Id="rId6" Target="../embeddings/oleObject6.bin" Type="http://schemas.openxmlformats.org/officeDocument/2006/relationships/oleObjec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embeddings/oleObject7.bin" Type="http://schemas.openxmlformats.org/officeDocument/2006/relationships/oleObject"/><Relationship Id="rId4" Target="../media/image3.png" Type="http://schemas.openxmlformats.org/officeDocument/2006/relationships/image"/><Relationship Id="rId5" Target="../media/image21.png" Type="http://schemas.openxmlformats.org/officeDocument/2006/relationships/image"/><Relationship Id="rId6" Target="../embeddings/oleObject8.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04875" y="52144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1893" y="4685098"/>
            <a:ext cx="15723385" cy="66260"/>
          </a:xfrm>
          <a:custGeom>
            <a:avLst/>
            <a:gdLst/>
            <a:ahLst/>
            <a:cxnLst/>
            <a:rect r="r" b="b" t="t" l="l"/>
            <a:pathLst>
              <a:path h="66260" w="15723385">
                <a:moveTo>
                  <a:pt x="0" y="0"/>
                </a:moveTo>
                <a:lnTo>
                  <a:pt x="15723385" y="0"/>
                </a:lnTo>
                <a:lnTo>
                  <a:pt x="15723385" y="66261"/>
                </a:lnTo>
                <a:lnTo>
                  <a:pt x="0" y="66261"/>
                </a:lnTo>
                <a:lnTo>
                  <a:pt x="0" y="0"/>
                </a:lnTo>
                <a:close/>
              </a:path>
            </a:pathLst>
          </a:custGeom>
          <a:blipFill>
            <a:blip r:embed="rId4"/>
            <a:stretch>
              <a:fillRect l="-110303" t="-185295" r="-110303" b="0"/>
            </a:stretch>
          </a:blipFill>
        </p:spPr>
      </p:sp>
      <p:sp>
        <p:nvSpPr>
          <p:cNvPr name="Freeform 4" id="4"/>
          <p:cNvSpPr/>
          <p:nvPr/>
        </p:nvSpPr>
        <p:spPr>
          <a:xfrm flipH="false" flipV="false" rot="0">
            <a:off x="12147549" y="6027799"/>
            <a:ext cx="4083509" cy="4259201"/>
          </a:xfrm>
          <a:custGeom>
            <a:avLst/>
            <a:gdLst/>
            <a:ahLst/>
            <a:cxnLst/>
            <a:rect r="r" b="b" t="t" l="l"/>
            <a:pathLst>
              <a:path h="4259201" w="4083509">
                <a:moveTo>
                  <a:pt x="0" y="0"/>
                </a:moveTo>
                <a:lnTo>
                  <a:pt x="4083509" y="0"/>
                </a:lnTo>
                <a:lnTo>
                  <a:pt x="4083509" y="4259201"/>
                </a:lnTo>
                <a:lnTo>
                  <a:pt x="0" y="4259201"/>
                </a:lnTo>
                <a:lnTo>
                  <a:pt x="0" y="0"/>
                </a:lnTo>
                <a:close/>
              </a:path>
            </a:pathLst>
          </a:custGeom>
          <a:blipFill>
            <a:blip r:embed="rId5"/>
            <a:stretch>
              <a:fillRect l="0" t="0" r="0" b="0"/>
            </a:stretch>
          </a:blipFill>
        </p:spPr>
      </p:sp>
      <p:sp>
        <p:nvSpPr>
          <p:cNvPr name="TextBox 5" id="5"/>
          <p:cNvSpPr txBox="true"/>
          <p:nvPr/>
        </p:nvSpPr>
        <p:spPr>
          <a:xfrm rot="0">
            <a:off x="7071447" y="4209538"/>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Introduction to DataScience</a:t>
            </a:r>
          </a:p>
        </p:txBody>
      </p:sp>
      <p:sp>
        <p:nvSpPr>
          <p:cNvPr name="TextBox 6" id="6"/>
          <p:cNvSpPr txBox="true"/>
          <p:nvPr/>
        </p:nvSpPr>
        <p:spPr>
          <a:xfrm rot="0">
            <a:off x="862525" y="2094988"/>
            <a:ext cx="16844214" cy="1352476"/>
          </a:xfrm>
          <a:prstGeom prst="rect">
            <a:avLst/>
          </a:prstGeom>
        </p:spPr>
        <p:txBody>
          <a:bodyPr anchor="t" rtlCol="false" tIns="0" lIns="0" bIns="0" rIns="0">
            <a:spAutoFit/>
          </a:bodyPr>
          <a:lstStyle/>
          <a:p>
            <a:pPr algn="just" marL="0" indent="0" lvl="0">
              <a:lnSpc>
                <a:spcPts val="5364"/>
              </a:lnSpc>
            </a:pPr>
            <a:r>
              <a:rPr lang="en-US" sz="4470" spc="-353" u="sng">
                <a:solidFill>
                  <a:srgbClr val="E41515"/>
                </a:solidFill>
                <a:latin typeface="Calistoga"/>
                <a:ea typeface="Calistoga"/>
                <a:cs typeface="Calistoga"/>
                <a:sym typeface="Calistoga"/>
                <a:hlinkClick r:id="rId6" tooltip="https://www.canva.com/design/DAHFHtqRDLA/BwT7wHFY-34H4wM9c8b5ew/edit"/>
              </a:rPr>
              <a:t>FA</a:t>
            </a:r>
            <a:r>
              <a:rPr lang="en-US" sz="4470" spc="-353" u="sng">
                <a:solidFill>
                  <a:srgbClr val="E41515"/>
                </a:solidFill>
                <a:latin typeface="Calistoga"/>
                <a:ea typeface="Calistoga"/>
                <a:cs typeface="Calistoga"/>
                <a:sym typeface="Calistoga"/>
                <a:hlinkClick r:id="rId7" tooltip="https://www.canva.com/design/DAHFHtqRDLA/BwT7wHFY-34H4wM9c8b5ew/edit"/>
              </a:rPr>
              <a:t>IR MACHINE LEARNING FOR ANALYZING INCOME OPPORTUNITIES USING THE 1994 CENSUS DATA </a:t>
            </a:r>
          </a:p>
        </p:txBody>
      </p:sp>
      <p:sp>
        <p:nvSpPr>
          <p:cNvPr name="TextBox 7" id="7"/>
          <p:cNvSpPr txBox="true"/>
          <p:nvPr/>
        </p:nvSpPr>
        <p:spPr>
          <a:xfrm rot="0">
            <a:off x="862525" y="1534955"/>
            <a:ext cx="5191848" cy="379058"/>
          </a:xfrm>
          <a:prstGeom prst="rect">
            <a:avLst/>
          </a:prstGeom>
        </p:spPr>
        <p:txBody>
          <a:bodyPr anchor="t" rtlCol="false" tIns="0" lIns="0" bIns="0" rIns="0">
            <a:spAutoFit/>
          </a:bodyPr>
          <a:lstStyle/>
          <a:p>
            <a:pPr algn="l" marL="0" indent="0" lvl="0">
              <a:lnSpc>
                <a:spcPts val="3119"/>
              </a:lnSpc>
              <a:spcBef>
                <a:spcPct val="0"/>
              </a:spcBef>
            </a:pPr>
            <a:r>
              <a:rPr lang="en-US" b="true" sz="2399">
                <a:solidFill>
                  <a:srgbClr val="2B2B2B"/>
                </a:solidFill>
                <a:latin typeface="Garet Bold"/>
                <a:ea typeface="Garet Bold"/>
                <a:cs typeface="Garet Bold"/>
                <a:sym typeface="Garet Bold"/>
              </a:rPr>
              <a:t>FINAL PRESENTATION</a:t>
            </a:r>
          </a:p>
        </p:txBody>
      </p:sp>
      <p:sp>
        <p:nvSpPr>
          <p:cNvPr name="TextBox 8" id="8"/>
          <p:cNvSpPr txBox="true"/>
          <p:nvPr/>
        </p:nvSpPr>
        <p:spPr>
          <a:xfrm rot="0">
            <a:off x="12864962" y="4904894"/>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DATASET:</a:t>
            </a:r>
          </a:p>
        </p:txBody>
      </p:sp>
      <p:sp>
        <p:nvSpPr>
          <p:cNvPr name="TextBox 9" id="9"/>
          <p:cNvSpPr txBox="true"/>
          <p:nvPr/>
        </p:nvSpPr>
        <p:spPr>
          <a:xfrm rot="0">
            <a:off x="12864962" y="5440301"/>
            <a:ext cx="3366096" cy="502286"/>
          </a:xfrm>
          <a:prstGeom prst="rect">
            <a:avLst/>
          </a:prstGeom>
        </p:spPr>
        <p:txBody>
          <a:bodyPr anchor="t" rtlCol="false" tIns="0" lIns="0" bIns="0" rIns="0">
            <a:spAutoFit/>
          </a:bodyPr>
          <a:lstStyle/>
          <a:p>
            <a:pPr algn="l" marL="0" indent="0" lvl="0">
              <a:lnSpc>
                <a:spcPts val="4159"/>
              </a:lnSpc>
              <a:spcBef>
                <a:spcPct val="0"/>
              </a:spcBef>
            </a:pPr>
            <a:r>
              <a:rPr lang="en-US" sz="3199">
                <a:solidFill>
                  <a:srgbClr val="2B2B2B"/>
                </a:solidFill>
                <a:latin typeface="Garet"/>
                <a:ea typeface="Garet"/>
                <a:cs typeface="Garet"/>
                <a:sym typeface="Garet"/>
              </a:rPr>
              <a:t>Income Adult</a:t>
            </a:r>
          </a:p>
        </p:txBody>
      </p:sp>
      <p:sp>
        <p:nvSpPr>
          <p:cNvPr name="TextBox 10" id="10"/>
          <p:cNvSpPr txBox="true"/>
          <p:nvPr/>
        </p:nvSpPr>
        <p:spPr>
          <a:xfrm rot="0">
            <a:off x="721893" y="8318789"/>
            <a:ext cx="8764824" cy="1308624"/>
          </a:xfrm>
          <a:prstGeom prst="rect">
            <a:avLst/>
          </a:prstGeom>
        </p:spPr>
        <p:txBody>
          <a:bodyPr anchor="t" rtlCol="false" tIns="0" lIns="0" bIns="0" rIns="0">
            <a:spAutoFit/>
          </a:bodyPr>
          <a:lstStyle/>
          <a:p>
            <a:pPr algn="l">
              <a:lnSpc>
                <a:spcPts val="3509"/>
              </a:lnSpc>
            </a:pPr>
            <a:r>
              <a:rPr lang="en-US" sz="2699" b="true">
                <a:solidFill>
                  <a:srgbClr val="2B2B2B"/>
                </a:solidFill>
                <a:latin typeface="Garet Bold"/>
                <a:ea typeface="Garet Bold"/>
                <a:cs typeface="Garet Bold"/>
                <a:sym typeface="Garet Bold"/>
              </a:rPr>
              <a:t>GROUP 5:</a:t>
            </a:r>
          </a:p>
          <a:p>
            <a:pPr algn="l">
              <a:lnSpc>
                <a:spcPts val="3509"/>
              </a:lnSpc>
            </a:pPr>
            <a:r>
              <a:rPr lang="en-US" sz="2699" b="true">
                <a:solidFill>
                  <a:srgbClr val="2B2B2B"/>
                </a:solidFill>
                <a:latin typeface="Garet Bold"/>
                <a:ea typeface="Garet Bold"/>
                <a:cs typeface="Garet Bold"/>
                <a:sym typeface="Garet Bold"/>
              </a:rPr>
              <a:t>23110035 - TRẦN ĐÌNH KHƯƠNG</a:t>
            </a:r>
          </a:p>
          <a:p>
            <a:pPr algn="l" marL="0" indent="0" lvl="0">
              <a:lnSpc>
                <a:spcPts val="3509"/>
              </a:lnSpc>
              <a:spcBef>
                <a:spcPct val="0"/>
              </a:spcBef>
            </a:pPr>
            <a:r>
              <a:rPr lang="en-US" b="true" sz="2699">
                <a:solidFill>
                  <a:srgbClr val="2B2B2B"/>
                </a:solidFill>
                <a:latin typeface="Garet Bold"/>
                <a:ea typeface="Garet Bold"/>
                <a:cs typeface="Garet Bold"/>
                <a:sym typeface="Garet Bold"/>
              </a:rPr>
              <a:t>23110060 - TRẦN HUỲNH XUÂN THANH</a:t>
            </a:r>
          </a:p>
        </p:txBody>
      </p:sp>
      <p:sp>
        <p:nvSpPr>
          <p:cNvPr name="TextBox 11" id="11"/>
          <p:cNvSpPr txBox="true"/>
          <p:nvPr/>
        </p:nvSpPr>
        <p:spPr>
          <a:xfrm rot="0">
            <a:off x="1768213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a:t>
            </a:r>
          </a:p>
        </p:txBody>
      </p:sp>
      <p:sp>
        <p:nvSpPr>
          <p:cNvPr name="TextBox 12" id="12"/>
          <p:cNvSpPr txBox="true"/>
          <p:nvPr/>
        </p:nvSpPr>
        <p:spPr>
          <a:xfrm rot="0">
            <a:off x="862525" y="5114925"/>
            <a:ext cx="8764824" cy="424180"/>
          </a:xfrm>
          <a:prstGeom prst="rect">
            <a:avLst/>
          </a:prstGeom>
        </p:spPr>
        <p:txBody>
          <a:bodyPr anchor="t" rtlCol="false" tIns="0" lIns="0" bIns="0" rIns="0">
            <a:spAutoFit/>
          </a:bodyPr>
          <a:lstStyle/>
          <a:p>
            <a:pPr algn="l" marL="0" indent="0" lvl="0">
              <a:lnSpc>
                <a:spcPts val="3379"/>
              </a:lnSpc>
              <a:spcBef>
                <a:spcPct val="0"/>
              </a:spcBef>
            </a:pPr>
            <a:r>
              <a:rPr lang="en-US" b="true" sz="2599">
                <a:solidFill>
                  <a:srgbClr val="2B2B2B"/>
                </a:solidFill>
                <a:latin typeface="Garet Bold"/>
                <a:ea typeface="Garet Bold"/>
                <a:cs typeface="Garet Bold"/>
                <a:sym typeface="Garet Bold"/>
              </a:rPr>
              <a:t>LECTURER: MR. QUÁCH ĐÌNH HOÀNG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FF3131"/>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Goal of the study</a:t>
            </a:r>
          </a:p>
        </p:txBody>
      </p:sp>
      <p:sp>
        <p:nvSpPr>
          <p:cNvPr name="TextBox 3" id="3"/>
          <p:cNvSpPr txBox="true"/>
          <p:nvPr/>
        </p:nvSpPr>
        <p:spPr>
          <a:xfrm rot="0">
            <a:off x="586695" y="1245614"/>
            <a:ext cx="15157964" cy="5980964"/>
          </a:xfrm>
          <a:prstGeom prst="rect">
            <a:avLst/>
          </a:prstGeom>
        </p:spPr>
        <p:txBody>
          <a:bodyPr anchor="t" rtlCol="false" tIns="0" lIns="0" bIns="0" rIns="0">
            <a:spAutoFit/>
          </a:bodyPr>
          <a:lstStyle/>
          <a:p>
            <a:pPr algn="l" marL="733336" indent="-366668" lvl="1">
              <a:lnSpc>
                <a:spcPts val="4755"/>
              </a:lnSpc>
              <a:buFont typeface="Arial"/>
              <a:buChar char="•"/>
            </a:pPr>
            <a:r>
              <a:rPr lang="en-US" b="true" sz="3396">
                <a:solidFill>
                  <a:srgbClr val="000000"/>
                </a:solidFill>
                <a:latin typeface="Garet Bold"/>
                <a:ea typeface="Garet Bold"/>
                <a:cs typeface="Garet Bold"/>
                <a:sym typeface="Garet Bold"/>
              </a:rPr>
              <a:t>Feature Impact:</a:t>
            </a:r>
            <a:r>
              <a:rPr lang="en-US" sz="3396">
                <a:solidFill>
                  <a:srgbClr val="000000"/>
                </a:solidFill>
                <a:latin typeface="Garet"/>
                <a:ea typeface="Garet"/>
                <a:cs typeface="Garet"/>
                <a:sym typeface="Garet"/>
              </a:rPr>
              <a:t> Which factors (education, age, occupation) have the strongest influence on income?</a:t>
            </a:r>
          </a:p>
          <a:p>
            <a:pPr algn="l" marL="733336" indent="-366668" lvl="1">
              <a:lnSpc>
                <a:spcPts val="4755"/>
              </a:lnSpc>
              <a:buFont typeface="Arial"/>
              <a:buChar char="•"/>
            </a:pPr>
            <a:r>
              <a:rPr lang="en-US" b="true" sz="3396">
                <a:solidFill>
                  <a:srgbClr val="000000"/>
                </a:solidFill>
                <a:latin typeface="Garet Bold"/>
                <a:ea typeface="Garet Bold"/>
                <a:cs typeface="Garet Bold"/>
                <a:sym typeface="Garet Bold"/>
              </a:rPr>
              <a:t>Model Performance:</a:t>
            </a:r>
            <a:r>
              <a:rPr lang="en-US" sz="3396">
                <a:solidFill>
                  <a:srgbClr val="000000"/>
                </a:solidFill>
                <a:latin typeface="Garet"/>
                <a:ea typeface="Garet"/>
                <a:cs typeface="Garet"/>
                <a:sym typeface="Garet"/>
              </a:rPr>
              <a:t> Which preprocessing techniques and models achieve the best performance and stability on imbalanced data?</a:t>
            </a:r>
          </a:p>
          <a:p>
            <a:pPr algn="l" marL="733336" indent="-366668" lvl="1">
              <a:lnSpc>
                <a:spcPts val="4755"/>
              </a:lnSpc>
              <a:buFont typeface="Arial"/>
              <a:buChar char="•"/>
            </a:pPr>
            <a:r>
              <a:rPr lang="en-US" b="true" sz="3396">
                <a:solidFill>
                  <a:srgbClr val="000000"/>
                </a:solidFill>
                <a:latin typeface="Garet Bold"/>
                <a:ea typeface="Garet Bold"/>
                <a:cs typeface="Garet Bold"/>
                <a:sym typeface="Garet Bold"/>
              </a:rPr>
              <a:t>Bias &amp; Explainability:</a:t>
            </a:r>
            <a:r>
              <a:rPr lang="en-US" sz="3396">
                <a:solidFill>
                  <a:srgbClr val="000000"/>
                </a:solidFill>
                <a:latin typeface="Garet"/>
                <a:ea typeface="Garet"/>
                <a:cs typeface="Garet"/>
                <a:sym typeface="Garet"/>
              </a:rPr>
              <a:t> Does the model exhibit bias with respect to gender or race? How can predictions be explained using SHAP or LIME?</a:t>
            </a:r>
          </a:p>
          <a:p>
            <a:pPr algn="l" marL="733336" indent="-366668" lvl="1">
              <a:lnSpc>
                <a:spcPts val="4755"/>
              </a:lnSpc>
              <a:spcBef>
                <a:spcPct val="0"/>
              </a:spcBef>
              <a:buFont typeface="Arial"/>
              <a:buChar char="•"/>
            </a:pPr>
            <a:r>
              <a:rPr lang="en-US" b="true" sz="3396">
                <a:solidFill>
                  <a:srgbClr val="000000"/>
                </a:solidFill>
                <a:latin typeface="Garet Bold"/>
                <a:ea typeface="Garet Bold"/>
                <a:cs typeface="Garet Bold"/>
                <a:sym typeface="Garet Bold"/>
              </a:rPr>
              <a:t>Controlled Analysis:</a:t>
            </a:r>
            <a:r>
              <a:rPr lang="en-US" sz="3396">
                <a:solidFill>
                  <a:srgbClr val="000000"/>
                </a:solidFill>
                <a:latin typeface="Garet"/>
                <a:ea typeface="Garet"/>
                <a:cs typeface="Garet"/>
                <a:sym typeface="Garet"/>
              </a:rPr>
              <a:t> When holding working hours and education constant, how do gender and race affect income?</a:t>
            </a:r>
          </a:p>
        </p:txBody>
      </p:sp>
      <p:sp>
        <p:nvSpPr>
          <p:cNvPr name="TextBox 4" id="4"/>
          <p:cNvSpPr txBox="true"/>
          <p:nvPr/>
        </p:nvSpPr>
        <p:spPr>
          <a:xfrm rot="0">
            <a:off x="1768213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a:t>
            </a:r>
          </a:p>
        </p:txBody>
      </p:sp>
      <p:sp>
        <p:nvSpPr>
          <p:cNvPr name="Freeform 5" id="5"/>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6" id="6"/>
          <p:cNvSpPr txBox="true"/>
          <p:nvPr/>
        </p:nvSpPr>
        <p:spPr>
          <a:xfrm rot="0">
            <a:off x="463279" y="7683778"/>
            <a:ext cx="18060938" cy="1780484"/>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Canva Sans Bold"/>
                <a:ea typeface="Canva Sans Bold"/>
                <a:cs typeface="Canva Sans Bold"/>
                <a:sym typeface="Canva Sans Bold"/>
              </a:rPr>
              <a:t>Motivation:</a:t>
            </a:r>
            <a:r>
              <a:rPr lang="en-US" sz="3399">
                <a:solidFill>
                  <a:srgbClr val="000000"/>
                </a:solidFill>
                <a:latin typeface="Canva Sans"/>
                <a:ea typeface="Canva Sans"/>
                <a:cs typeface="Canva Sans"/>
                <a:sym typeface="Canva Sans"/>
              </a:rPr>
              <a:t> Personal income reflects key economic factors and helps understand social inequality. At the same time, this problem provides a practical setting to apply machine learning techniques and build interpretable and fair predictive models.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6623" y="1473243"/>
            <a:ext cx="15442118" cy="2380542"/>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Problem Handling: </a:t>
            </a:r>
            <a:r>
              <a:rPr lang="en-US" sz="3399">
                <a:solidFill>
                  <a:srgbClr val="000000"/>
                </a:solidFill>
                <a:latin typeface="Garet"/>
                <a:ea typeface="Garet"/>
                <a:cs typeface="Garet"/>
                <a:sym typeface="Garet"/>
              </a:rPr>
              <a:t>Check</a:t>
            </a:r>
            <a:r>
              <a:rPr lang="en-US" sz="3399">
                <a:solidFill>
                  <a:srgbClr val="000000"/>
                </a:solidFill>
                <a:latin typeface="Garet"/>
                <a:ea typeface="Garet"/>
                <a:cs typeface="Garet"/>
                <a:sym typeface="Garet"/>
              </a:rPr>
              <a:t> for class imbalance in the dataset</a:t>
            </a:r>
          </a:p>
          <a:p>
            <a:pPr algn="l" marL="734051" indent="-367026" lvl="1">
              <a:lnSpc>
                <a:spcPts val="4759"/>
              </a:lnSpc>
              <a:buFont typeface="Arial"/>
              <a:buChar char="•"/>
            </a:pPr>
            <a:r>
              <a:rPr lang="en-US" sz="3399">
                <a:solidFill>
                  <a:srgbClr val="000000"/>
                </a:solidFill>
                <a:latin typeface="Garet"/>
                <a:ea typeface="Garet"/>
                <a:cs typeface="Garet"/>
                <a:sym typeface="Garet"/>
              </a:rPr>
              <a:t>Clean and preprocess the Adult Census dataset</a:t>
            </a:r>
          </a:p>
          <a:p>
            <a:pPr algn="l" marL="734051" indent="-367026" lvl="1">
              <a:lnSpc>
                <a:spcPts val="4759"/>
              </a:lnSpc>
              <a:buFont typeface="Arial"/>
              <a:buChar char="•"/>
            </a:pPr>
            <a:r>
              <a:rPr lang="en-US" sz="3399">
                <a:solidFill>
                  <a:srgbClr val="000000"/>
                </a:solidFill>
                <a:latin typeface="Garet"/>
                <a:ea typeface="Garet"/>
                <a:cs typeface="Garet"/>
                <a:sym typeface="Garet"/>
              </a:rPr>
              <a:t>Handle missing values and remove redundant features</a:t>
            </a:r>
          </a:p>
          <a:p>
            <a:pPr algn="l" marL="734051" indent="-367026" lvl="1">
              <a:lnSpc>
                <a:spcPts val="4759"/>
              </a:lnSpc>
              <a:buFont typeface="Arial"/>
              <a:buChar char="•"/>
            </a:pPr>
            <a:r>
              <a:rPr lang="en-US" sz="3399">
                <a:solidFill>
                  <a:srgbClr val="000000"/>
                </a:solidFill>
                <a:latin typeface="Garet"/>
                <a:ea typeface="Garet"/>
                <a:cs typeface="Garet"/>
                <a:sym typeface="Garet"/>
              </a:rPr>
              <a:t>Apply feature engineering and feature selection</a:t>
            </a:r>
          </a:p>
        </p:txBody>
      </p:sp>
      <p:sp>
        <p:nvSpPr>
          <p:cNvPr name="TextBox 3" id="3"/>
          <p:cNvSpPr txBox="true"/>
          <p:nvPr/>
        </p:nvSpPr>
        <p:spPr>
          <a:xfrm rot="0">
            <a:off x="886623" y="3980642"/>
            <a:ext cx="15157964" cy="298059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Train and compare ML models: </a:t>
            </a:r>
            <a:r>
              <a:rPr lang="en-US" sz="3399">
                <a:solidFill>
                  <a:srgbClr val="000000"/>
                </a:solidFill>
                <a:latin typeface="Garet"/>
                <a:ea typeface="Garet"/>
                <a:cs typeface="Garet"/>
                <a:sym typeface="Garet"/>
              </a:rPr>
              <a:t>Logistic Regression, Random Forest, LightGBM, XGBoost</a:t>
            </a:r>
          </a:p>
          <a:p>
            <a:pPr algn="l">
              <a:lnSpc>
                <a:spcPts val="4759"/>
              </a:lnSpc>
            </a:pPr>
            <a:r>
              <a:rPr lang="en-US" sz="3399" b="true">
                <a:solidFill>
                  <a:srgbClr val="000000"/>
                </a:solidFill>
                <a:latin typeface="Garet Bold"/>
                <a:ea typeface="Garet Bold"/>
                <a:cs typeface="Garet Bold"/>
                <a:sym typeface="Garet Bold"/>
              </a:rPr>
              <a:t>Evaluation Metrics: </a:t>
            </a:r>
            <a:r>
              <a:rPr lang="en-US" sz="3399">
                <a:solidFill>
                  <a:srgbClr val="000000"/>
                </a:solidFill>
                <a:latin typeface="Garet"/>
                <a:ea typeface="Garet"/>
                <a:cs typeface="Garet"/>
                <a:sym typeface="Garet"/>
              </a:rPr>
              <a:t>Use F1-score (balancing precision and recall), AUC-ROC, MCC, and Stratified K-Fold cross-validation to evaluate and compare models</a:t>
            </a:r>
          </a:p>
        </p:txBody>
      </p:sp>
      <p:sp>
        <p:nvSpPr>
          <p:cNvPr name="TextBox 4" id="4"/>
          <p:cNvSpPr txBox="true"/>
          <p:nvPr/>
        </p:nvSpPr>
        <p:spPr>
          <a:xfrm rot="0">
            <a:off x="886623" y="6913615"/>
            <a:ext cx="15442118" cy="1180429"/>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Explainability &amp; Fairness (XAI): </a:t>
            </a:r>
            <a:r>
              <a:rPr lang="en-US" sz="3399">
                <a:solidFill>
                  <a:srgbClr val="000000"/>
                </a:solidFill>
                <a:latin typeface="Garet"/>
                <a:ea typeface="Garet"/>
                <a:cs typeface="Garet"/>
                <a:sym typeface="Garet"/>
              </a:rPr>
              <a:t>Apply techniques such as SHAP and LIME, along with fairness metrics</a:t>
            </a:r>
          </a:p>
        </p:txBody>
      </p:sp>
      <p:sp>
        <p:nvSpPr>
          <p:cNvPr name="TextBox 5" id="5"/>
          <p:cNvSpPr txBox="true"/>
          <p:nvPr/>
        </p:nvSpPr>
        <p:spPr>
          <a:xfrm rot="0">
            <a:off x="1768213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3</a:t>
            </a:r>
          </a:p>
        </p:txBody>
      </p:sp>
      <p:sp>
        <p:nvSpPr>
          <p:cNvPr name="TextBox 6" id="6"/>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Analysis Approach &amp; Evaluation </a:t>
            </a:r>
          </a:p>
        </p:txBody>
      </p:sp>
      <p:sp>
        <p:nvSpPr>
          <p:cNvPr name="Freeform 7" id="7"/>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E41515"/>
                </a:solidFill>
                <a:latin typeface="Calistoga"/>
                <a:ea typeface="Calistoga"/>
                <a:cs typeface="Calistoga"/>
                <a:sym typeface="Calistoga"/>
              </a:rPr>
              <a:t>2. </a:t>
            </a:r>
            <a:r>
              <a:rPr lang="en-US" sz="4552">
                <a:solidFill>
                  <a:srgbClr val="E41515"/>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04612" y="1287244"/>
            <a:ext cx="5666017" cy="4947928"/>
          </a:xfrm>
          <a:custGeom>
            <a:avLst/>
            <a:gdLst/>
            <a:ahLst/>
            <a:cxnLst/>
            <a:rect r="r" b="b" t="t" l="l"/>
            <a:pathLst>
              <a:path h="4947928" w="5666017">
                <a:moveTo>
                  <a:pt x="0" y="0"/>
                </a:moveTo>
                <a:lnTo>
                  <a:pt x="5666016" y="0"/>
                </a:lnTo>
                <a:lnTo>
                  <a:pt x="5666016" y="4947928"/>
                </a:lnTo>
                <a:lnTo>
                  <a:pt x="0" y="4947928"/>
                </a:lnTo>
                <a:lnTo>
                  <a:pt x="0" y="0"/>
                </a:lnTo>
                <a:close/>
              </a:path>
            </a:pathLst>
          </a:custGeom>
          <a:blipFill>
            <a:blip r:embed="rId2"/>
            <a:stretch>
              <a:fillRect l="0" t="0" r="0" b="0"/>
            </a:stretch>
          </a:blipFill>
        </p:spPr>
      </p:sp>
      <p:sp>
        <p:nvSpPr>
          <p:cNvPr name="TextBox 3" id="3"/>
          <p:cNvSpPr txBox="true"/>
          <p:nvPr/>
        </p:nvSpPr>
        <p:spPr>
          <a:xfrm rot="0">
            <a:off x="591991" y="3939639"/>
            <a:ext cx="8467068" cy="1046347"/>
          </a:xfrm>
          <a:prstGeom prst="rect">
            <a:avLst/>
          </a:prstGeom>
        </p:spPr>
        <p:txBody>
          <a:bodyPr anchor="t" rtlCol="false" tIns="0" lIns="0" bIns="0" rIns="0">
            <a:spAutoFit/>
          </a:bodyPr>
          <a:lstStyle/>
          <a:p>
            <a:pPr algn="l">
              <a:lnSpc>
                <a:spcPts val="4273"/>
              </a:lnSpc>
              <a:spcBef>
                <a:spcPct val="0"/>
              </a:spcBef>
            </a:pPr>
            <a:r>
              <a:rPr lang="en-US" b="true" sz="3052">
                <a:solidFill>
                  <a:srgbClr val="000000"/>
                </a:solidFill>
                <a:latin typeface="Garet Bold"/>
                <a:ea typeface="Garet Bold"/>
                <a:cs typeface="Garet Bold"/>
                <a:sym typeface="Garet Bold"/>
              </a:rPr>
              <a:t>Scale: </a:t>
            </a:r>
            <a:r>
              <a:rPr lang="en-US" sz="3052">
                <a:solidFill>
                  <a:srgbClr val="000000"/>
                </a:solidFill>
                <a:latin typeface="Garet"/>
                <a:ea typeface="Garet"/>
                <a:cs typeface="Garet"/>
                <a:sym typeface="Garet"/>
              </a:rPr>
              <a:t>48,842 independent observations (76% training, 24% testing).</a:t>
            </a:r>
          </a:p>
        </p:txBody>
      </p:sp>
      <p:sp>
        <p:nvSpPr>
          <p:cNvPr name="TextBox 4" id="4"/>
          <p:cNvSpPr txBox="true"/>
          <p:nvPr/>
        </p:nvSpPr>
        <p:spPr>
          <a:xfrm rot="0">
            <a:off x="591991" y="1913010"/>
            <a:ext cx="7400300" cy="1617054"/>
          </a:xfrm>
          <a:prstGeom prst="rect">
            <a:avLst/>
          </a:prstGeom>
        </p:spPr>
        <p:txBody>
          <a:bodyPr anchor="t" rtlCol="false" tIns="0" lIns="0" bIns="0" rIns="0">
            <a:spAutoFit/>
          </a:bodyPr>
          <a:lstStyle/>
          <a:p>
            <a:pPr algn="l">
              <a:lnSpc>
                <a:spcPts val="4308"/>
              </a:lnSpc>
              <a:spcBef>
                <a:spcPct val="0"/>
              </a:spcBef>
            </a:pPr>
            <a:r>
              <a:rPr lang="en-US" b="true" sz="3077">
                <a:solidFill>
                  <a:srgbClr val="000000"/>
                </a:solidFill>
                <a:latin typeface="Garet Bold"/>
                <a:ea typeface="Garet Bold"/>
                <a:cs typeface="Garet Bold"/>
                <a:sym typeface="Garet Bold"/>
              </a:rPr>
              <a:t>Source: </a:t>
            </a:r>
            <a:r>
              <a:rPr lang="en-US" sz="3077">
                <a:solidFill>
                  <a:srgbClr val="000000"/>
                </a:solidFill>
                <a:latin typeface="Garet"/>
                <a:ea typeface="Garet"/>
                <a:cs typeface="Garet"/>
                <a:sym typeface="Garet"/>
              </a:rPr>
              <a:t>Extracted from the 1994 U.S. Census Bureau database by Barry Becker and Ronny Kohavi</a:t>
            </a:r>
          </a:p>
        </p:txBody>
      </p:sp>
      <p:sp>
        <p:nvSpPr>
          <p:cNvPr name="TextBox 5" id="5"/>
          <p:cNvSpPr txBox="true"/>
          <p:nvPr/>
        </p:nvSpPr>
        <p:spPr>
          <a:xfrm rot="0">
            <a:off x="591991" y="5592677"/>
            <a:ext cx="8933611" cy="976062"/>
          </a:xfrm>
          <a:prstGeom prst="rect">
            <a:avLst/>
          </a:prstGeom>
        </p:spPr>
        <p:txBody>
          <a:bodyPr anchor="t" rtlCol="false" tIns="0" lIns="0" bIns="0" rIns="0">
            <a:spAutoFit/>
          </a:bodyPr>
          <a:lstStyle/>
          <a:p>
            <a:pPr algn="l">
              <a:lnSpc>
                <a:spcPts val="3943"/>
              </a:lnSpc>
              <a:spcBef>
                <a:spcPct val="0"/>
              </a:spcBef>
            </a:pPr>
            <a:r>
              <a:rPr lang="en-US" b="true" sz="2816">
                <a:solidFill>
                  <a:srgbClr val="000000"/>
                </a:solidFill>
                <a:latin typeface="Garet Bold"/>
                <a:ea typeface="Garet Bold"/>
                <a:cs typeface="Garet Bold"/>
                <a:sym typeface="Garet Bold"/>
              </a:rPr>
              <a:t>Number of Variables:</a:t>
            </a:r>
            <a:r>
              <a:rPr lang="en-US" sz="2816">
                <a:solidFill>
                  <a:srgbClr val="000000"/>
                </a:solidFill>
                <a:latin typeface="Garet"/>
                <a:ea typeface="Garet"/>
                <a:cs typeface="Garet"/>
                <a:sym typeface="Garet"/>
              </a:rPr>
              <a:t> 15 variables (14 features and 1 target variable).</a:t>
            </a:r>
          </a:p>
        </p:txBody>
      </p:sp>
      <p:sp>
        <p:nvSpPr>
          <p:cNvPr name="TextBox 6" id="6"/>
          <p:cNvSpPr txBox="true"/>
          <p:nvPr/>
        </p:nvSpPr>
        <p:spPr>
          <a:xfrm rot="0">
            <a:off x="591991" y="6944653"/>
            <a:ext cx="9711889" cy="975973"/>
          </a:xfrm>
          <a:prstGeom prst="rect">
            <a:avLst/>
          </a:prstGeom>
        </p:spPr>
        <p:txBody>
          <a:bodyPr anchor="t" rtlCol="false" tIns="0" lIns="0" bIns="0" rIns="0">
            <a:spAutoFit/>
          </a:bodyPr>
          <a:lstStyle/>
          <a:p>
            <a:pPr algn="l">
              <a:lnSpc>
                <a:spcPts val="3948"/>
              </a:lnSpc>
              <a:spcBef>
                <a:spcPct val="0"/>
              </a:spcBef>
            </a:pPr>
            <a:r>
              <a:rPr lang="en-US" b="true" sz="2820">
                <a:solidFill>
                  <a:srgbClr val="000000"/>
                </a:solidFill>
                <a:latin typeface="Garet Bold"/>
                <a:ea typeface="Garet Bold"/>
                <a:cs typeface="Garet Bold"/>
                <a:sym typeface="Garet Bold"/>
              </a:rPr>
              <a:t>Data</a:t>
            </a:r>
            <a:r>
              <a:rPr lang="en-US" b="true" sz="2820">
                <a:solidFill>
                  <a:srgbClr val="000000"/>
                </a:solidFill>
                <a:latin typeface="Garet Bold"/>
                <a:ea typeface="Garet Bold"/>
                <a:cs typeface="Garet Bold"/>
                <a:sym typeface="Garet Bold"/>
              </a:rPr>
              <a:t> Issues:</a:t>
            </a:r>
            <a:r>
              <a:rPr lang="en-US" sz="2820">
                <a:solidFill>
                  <a:srgbClr val="000000"/>
                </a:solidFill>
                <a:latin typeface="Garet"/>
                <a:ea typeface="Garet"/>
                <a:cs typeface="Garet"/>
                <a:sym typeface="Garet"/>
              </a:rPr>
              <a:t> Approximately 3,620 rows contain missing values (about 7% of the dataset)</a:t>
            </a:r>
          </a:p>
        </p:txBody>
      </p:sp>
      <p:sp>
        <p:nvSpPr>
          <p:cNvPr name="TextBox 7" id="7"/>
          <p:cNvSpPr txBox="true"/>
          <p:nvPr/>
        </p:nvSpPr>
        <p:spPr>
          <a:xfrm rot="0">
            <a:off x="1770118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4</a:t>
            </a:r>
          </a:p>
        </p:txBody>
      </p:sp>
      <p:sp>
        <p:nvSpPr>
          <p:cNvPr name="TextBox 8" id="8"/>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Dataset description</a:t>
            </a:r>
          </a:p>
        </p:txBody>
      </p:sp>
      <p:sp>
        <p:nvSpPr>
          <p:cNvPr name="Freeform 9" id="9"/>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3"/>
            <a:stretch>
              <a:fillRect l="-110303" t="-185295" r="-110303" b="0"/>
            </a:stretch>
          </a:blipFill>
        </p:spPr>
      </p:sp>
      <p:sp>
        <p:nvSpPr>
          <p:cNvPr name="Freeform 10" id="10"/>
          <p:cNvSpPr/>
          <p:nvPr/>
        </p:nvSpPr>
        <p:spPr>
          <a:xfrm flipH="false" flipV="false" rot="0">
            <a:off x="11271003" y="6235172"/>
            <a:ext cx="5299626" cy="3974719"/>
          </a:xfrm>
          <a:custGeom>
            <a:avLst/>
            <a:gdLst/>
            <a:ahLst/>
            <a:cxnLst/>
            <a:rect r="r" b="b" t="t" l="l"/>
            <a:pathLst>
              <a:path h="3974719" w="5299626">
                <a:moveTo>
                  <a:pt x="0" y="0"/>
                </a:moveTo>
                <a:lnTo>
                  <a:pt x="5299625" y="0"/>
                </a:lnTo>
                <a:lnTo>
                  <a:pt x="5299625" y="3974719"/>
                </a:lnTo>
                <a:lnTo>
                  <a:pt x="0" y="3974719"/>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9490" y="1610665"/>
            <a:ext cx="16227388" cy="298059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Numerical Features:</a:t>
            </a:r>
          </a:p>
          <a:p>
            <a:pPr algn="l" marL="734051" indent="-367026" lvl="1">
              <a:lnSpc>
                <a:spcPts val="4759"/>
              </a:lnSpc>
              <a:buFont typeface="Arial"/>
              <a:buChar char="•"/>
            </a:pPr>
            <a:r>
              <a:rPr lang="en-US" sz="3399">
                <a:solidFill>
                  <a:srgbClr val="000000"/>
                </a:solidFill>
                <a:latin typeface="Garet"/>
                <a:ea typeface="Garet"/>
                <a:cs typeface="Garet"/>
                <a:sym typeface="Garet"/>
              </a:rPr>
              <a:t>age, education-num, hours-per-week (personal characteristics and work intensity)</a:t>
            </a:r>
          </a:p>
          <a:p>
            <a:pPr algn="l" marL="734051" indent="-367026" lvl="1">
              <a:lnSpc>
                <a:spcPts val="4759"/>
              </a:lnSpc>
              <a:buFont typeface="Arial"/>
              <a:buChar char="•"/>
            </a:pPr>
            <a:r>
              <a:rPr lang="en-US" sz="3399">
                <a:solidFill>
                  <a:srgbClr val="000000"/>
                </a:solidFill>
                <a:latin typeface="Garet"/>
                <a:ea typeface="Garet"/>
                <a:cs typeface="Garet"/>
                <a:sym typeface="Garet"/>
              </a:rPr>
              <a:t>capital-gain, capital-loss (Investment-related activities)</a:t>
            </a:r>
          </a:p>
          <a:p>
            <a:pPr algn="l" marL="734051" indent="-367026" lvl="1">
              <a:lnSpc>
                <a:spcPts val="4759"/>
              </a:lnSpc>
              <a:buFont typeface="Arial"/>
              <a:buChar char="•"/>
            </a:pPr>
            <a:r>
              <a:rPr lang="en-US" sz="3399">
                <a:solidFill>
                  <a:srgbClr val="000000"/>
                </a:solidFill>
                <a:latin typeface="Garet"/>
                <a:ea typeface="Garet"/>
                <a:cs typeface="Garet"/>
                <a:sym typeface="Garet"/>
              </a:rPr>
              <a:t>fnlwgt (Census sampling weight)</a:t>
            </a:r>
          </a:p>
        </p:txBody>
      </p:sp>
      <p:sp>
        <p:nvSpPr>
          <p:cNvPr name="TextBox 3" id="3"/>
          <p:cNvSpPr txBox="true"/>
          <p:nvPr/>
        </p:nvSpPr>
        <p:spPr>
          <a:xfrm rot="0">
            <a:off x="889490" y="5283739"/>
            <a:ext cx="15442118" cy="298059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Categorical Features:</a:t>
            </a:r>
          </a:p>
          <a:p>
            <a:pPr algn="l" marL="734051" indent="-367026" lvl="1">
              <a:lnSpc>
                <a:spcPts val="4759"/>
              </a:lnSpc>
              <a:buFont typeface="Arial"/>
              <a:buChar char="•"/>
            </a:pPr>
            <a:r>
              <a:rPr lang="en-US" sz="3399">
                <a:solidFill>
                  <a:srgbClr val="000000"/>
                </a:solidFill>
                <a:latin typeface="Garet"/>
                <a:ea typeface="Garet"/>
                <a:cs typeface="Garet"/>
                <a:sym typeface="Garet"/>
              </a:rPr>
              <a:t>workclass, education, marital-status, occupation, relationship, race, native-country (Reflect social and socio-economic characteristics), sex (gender)</a:t>
            </a:r>
          </a:p>
          <a:p>
            <a:pPr algn="l">
              <a:lnSpc>
                <a:spcPts val="4759"/>
              </a:lnSpc>
            </a:pPr>
          </a:p>
        </p:txBody>
      </p:sp>
      <p:sp>
        <p:nvSpPr>
          <p:cNvPr name="TextBox 4" id="4"/>
          <p:cNvSpPr txBox="true"/>
          <p:nvPr/>
        </p:nvSpPr>
        <p:spPr>
          <a:xfrm rot="0">
            <a:off x="1768213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5</a:t>
            </a:r>
          </a:p>
        </p:txBody>
      </p:sp>
      <p:sp>
        <p:nvSpPr>
          <p:cNvPr name="TextBox 5" id="5"/>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Features Description</a:t>
            </a:r>
          </a:p>
        </p:txBody>
      </p:sp>
      <p:sp>
        <p:nvSpPr>
          <p:cNvPr name="Freeform 6" id="6"/>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9692" y="2962954"/>
            <a:ext cx="4060819" cy="2318140"/>
            <a:chOff x="0" y="0"/>
            <a:chExt cx="812800" cy="463991"/>
          </a:xfrm>
        </p:grpSpPr>
        <p:sp>
          <p:nvSpPr>
            <p:cNvPr name="Freeform 3" id="3"/>
            <p:cNvSpPr/>
            <p:nvPr/>
          </p:nvSpPr>
          <p:spPr>
            <a:xfrm flipH="false" flipV="false" rot="0">
              <a:off x="0" y="0"/>
              <a:ext cx="812800" cy="463991"/>
            </a:xfrm>
            <a:custGeom>
              <a:avLst/>
              <a:gdLst/>
              <a:ahLst/>
              <a:cxnLst/>
              <a:rect r="r" b="b" t="t" l="l"/>
              <a:pathLst>
                <a:path h="463991" w="812800">
                  <a:moveTo>
                    <a:pt x="609600" y="0"/>
                  </a:moveTo>
                  <a:cubicBezTo>
                    <a:pt x="721824" y="0"/>
                    <a:pt x="812800" y="103868"/>
                    <a:pt x="812800" y="231996"/>
                  </a:cubicBezTo>
                  <a:cubicBezTo>
                    <a:pt x="812800" y="360123"/>
                    <a:pt x="721824" y="463991"/>
                    <a:pt x="609600" y="463991"/>
                  </a:cubicBezTo>
                  <a:lnTo>
                    <a:pt x="203200" y="463991"/>
                  </a:lnTo>
                  <a:cubicBezTo>
                    <a:pt x="90976" y="463991"/>
                    <a:pt x="0" y="360123"/>
                    <a:pt x="0" y="231996"/>
                  </a:cubicBezTo>
                  <a:cubicBezTo>
                    <a:pt x="0" y="103868"/>
                    <a:pt x="90976" y="0"/>
                    <a:pt x="203200" y="0"/>
                  </a:cubicBezTo>
                  <a:close/>
                </a:path>
              </a:pathLst>
            </a:custGeom>
            <a:solidFill>
              <a:srgbClr val="004AAD"/>
            </a:solidFill>
          </p:spPr>
        </p:sp>
        <p:sp>
          <p:nvSpPr>
            <p:cNvPr name="TextBox 4" id="4"/>
            <p:cNvSpPr txBox="true"/>
            <p:nvPr/>
          </p:nvSpPr>
          <p:spPr>
            <a:xfrm>
              <a:off x="0" y="-47625"/>
              <a:ext cx="812800" cy="511616"/>
            </a:xfrm>
            <a:prstGeom prst="rect">
              <a:avLst/>
            </a:prstGeom>
          </p:spPr>
          <p:txBody>
            <a:bodyPr anchor="ctr" rtlCol="false" tIns="50800" lIns="50800" bIns="50800" rIns="50800"/>
            <a:lstStyle/>
            <a:p>
              <a:pPr algn="ctr">
                <a:lnSpc>
                  <a:spcPts val="3499"/>
                </a:lnSpc>
              </a:pPr>
              <a:r>
                <a:rPr lang="en-US" sz="2499" b="true">
                  <a:solidFill>
                    <a:srgbClr val="FFFFFF"/>
                  </a:solidFill>
                  <a:latin typeface="Canva Sans Bold"/>
                  <a:ea typeface="Canva Sans Bold"/>
                  <a:cs typeface="Canva Sans Bold"/>
                  <a:sym typeface="Canva Sans Bold"/>
                </a:rPr>
                <a:t>Input Features</a:t>
              </a:r>
            </a:p>
            <a:p>
              <a:pPr algn="ctr">
                <a:lnSpc>
                  <a:spcPts val="3499"/>
                </a:lnSpc>
              </a:pPr>
              <a:r>
                <a:rPr lang="en-US" sz="2499" b="true">
                  <a:solidFill>
                    <a:srgbClr val="FFFFFF"/>
                  </a:solidFill>
                  <a:latin typeface="Canva Sans Bold"/>
                  <a:ea typeface="Canva Sans Bold"/>
                  <a:cs typeface="Canva Sans Bold"/>
                  <a:sym typeface="Canva Sans Bold"/>
                </a:rPr>
                <a:t>- age</a:t>
              </a:r>
            </a:p>
            <a:p>
              <a:pPr algn="ctr">
                <a:lnSpc>
                  <a:spcPts val="3499"/>
                </a:lnSpc>
              </a:pPr>
              <a:r>
                <a:rPr lang="en-US" sz="2499" b="true">
                  <a:solidFill>
                    <a:srgbClr val="FFFFFF"/>
                  </a:solidFill>
                  <a:latin typeface="Canva Sans Bold"/>
                  <a:ea typeface="Canva Sans Bold"/>
                  <a:cs typeface="Canva Sans Bold"/>
                  <a:sym typeface="Canva Sans Bold"/>
                </a:rPr>
                <a:t>- education-num</a:t>
              </a:r>
            </a:p>
            <a:p>
              <a:pPr algn="ctr">
                <a:lnSpc>
                  <a:spcPts val="3499"/>
                </a:lnSpc>
              </a:pPr>
              <a:r>
                <a:rPr lang="en-US" sz="2499" b="true">
                  <a:solidFill>
                    <a:srgbClr val="FFFFFF"/>
                  </a:solidFill>
                  <a:latin typeface="Canva Sans Bold"/>
                  <a:ea typeface="Canva Sans Bold"/>
                  <a:cs typeface="Canva Sans Bold"/>
                  <a:sym typeface="Canva Sans Bold"/>
                </a:rPr>
                <a:t>- workclass</a:t>
              </a:r>
            </a:p>
            <a:p>
              <a:pPr algn="ctr">
                <a:lnSpc>
                  <a:spcPts val="3499"/>
                </a:lnSpc>
                <a:spcBef>
                  <a:spcPct val="0"/>
                </a:spcBef>
              </a:pPr>
              <a:r>
                <a:rPr lang="en-US" b="true" sz="2499">
                  <a:solidFill>
                    <a:srgbClr val="FFFFFF"/>
                  </a:solidFill>
                  <a:latin typeface="Canva Sans Bold"/>
                  <a:ea typeface="Canva Sans Bold"/>
                  <a:cs typeface="Canva Sans Bold"/>
                  <a:sym typeface="Canva Sans Bold"/>
                </a:rPr>
                <a:t>...</a:t>
              </a:r>
            </a:p>
          </p:txBody>
        </p:sp>
      </p:grpSp>
      <p:grpSp>
        <p:nvGrpSpPr>
          <p:cNvPr name="Group 5" id="5"/>
          <p:cNvGrpSpPr/>
          <p:nvPr/>
        </p:nvGrpSpPr>
        <p:grpSpPr>
          <a:xfrm rot="0">
            <a:off x="5318871" y="3498226"/>
            <a:ext cx="1290641" cy="1188579"/>
            <a:chOff x="0" y="0"/>
            <a:chExt cx="6343650" cy="5842000"/>
          </a:xfrm>
        </p:grpSpPr>
        <p:sp>
          <p:nvSpPr>
            <p:cNvPr name="Freeform 6" id="6"/>
            <p:cNvSpPr/>
            <p:nvPr/>
          </p:nvSpPr>
          <p:spPr>
            <a:xfrm flipH="false" flipV="false" rot="0">
              <a:off x="68580" y="100330"/>
              <a:ext cx="6188710" cy="5651500"/>
            </a:xfrm>
            <a:custGeom>
              <a:avLst/>
              <a:gdLst/>
              <a:ahLst/>
              <a:cxnLst/>
              <a:rect r="r" b="b" t="t" l="l"/>
              <a:pathLst>
                <a:path h="5651500" w="6188710">
                  <a:moveTo>
                    <a:pt x="6188710" y="2825750"/>
                  </a:moveTo>
                  <a:lnTo>
                    <a:pt x="3362960" y="5651500"/>
                  </a:lnTo>
                  <a:lnTo>
                    <a:pt x="2536190" y="4824730"/>
                  </a:lnTo>
                  <a:lnTo>
                    <a:pt x="3933190" y="3404870"/>
                  </a:lnTo>
                  <a:lnTo>
                    <a:pt x="0" y="3402330"/>
                  </a:lnTo>
                  <a:lnTo>
                    <a:pt x="7620" y="2241550"/>
                  </a:lnTo>
                  <a:lnTo>
                    <a:pt x="3967480" y="2247900"/>
                  </a:lnTo>
                  <a:lnTo>
                    <a:pt x="2536190" y="826770"/>
                  </a:lnTo>
                  <a:lnTo>
                    <a:pt x="3362960" y="0"/>
                  </a:lnTo>
                  <a:lnTo>
                    <a:pt x="6188710" y="2825750"/>
                  </a:lnTo>
                  <a:close/>
                </a:path>
              </a:pathLst>
            </a:custGeom>
            <a:blipFill>
              <a:blip r:embed="rId2"/>
              <a:stretch>
                <a:fillRect l="0" t="-5805" r="0" b="-5805"/>
              </a:stretch>
            </a:blipFill>
          </p:spPr>
        </p:sp>
        <p:sp>
          <p:nvSpPr>
            <p:cNvPr name="Freeform 7" id="7"/>
            <p:cNvSpPr/>
            <p:nvPr/>
          </p:nvSpPr>
          <p:spPr>
            <a:xfrm flipH="false" flipV="false" rot="0">
              <a:off x="0" y="0"/>
              <a:ext cx="6343650" cy="5842000"/>
            </a:xfrm>
            <a:custGeom>
              <a:avLst/>
              <a:gdLst/>
              <a:ahLst/>
              <a:cxnLst/>
              <a:rect r="r" b="b" t="t" l="l"/>
              <a:pathLst>
                <a:path h="5842000" w="6343650">
                  <a:moveTo>
                    <a:pt x="6343650" y="2921000"/>
                  </a:moveTo>
                  <a:lnTo>
                    <a:pt x="3422650" y="5842000"/>
                  </a:lnTo>
                  <a:lnTo>
                    <a:pt x="2500630" y="4919980"/>
                  </a:lnTo>
                  <a:lnTo>
                    <a:pt x="3846830" y="3573780"/>
                  </a:lnTo>
                  <a:lnTo>
                    <a:pt x="0" y="3573780"/>
                  </a:lnTo>
                  <a:lnTo>
                    <a:pt x="0" y="2269490"/>
                  </a:lnTo>
                  <a:lnTo>
                    <a:pt x="3846830" y="2269490"/>
                  </a:lnTo>
                  <a:lnTo>
                    <a:pt x="2500630" y="923290"/>
                  </a:lnTo>
                  <a:lnTo>
                    <a:pt x="3422650" y="0"/>
                  </a:lnTo>
                  <a:lnTo>
                    <a:pt x="6343650" y="2921000"/>
                  </a:lnTo>
                  <a:close/>
                  <a:moveTo>
                    <a:pt x="3422650" y="5662930"/>
                  </a:moveTo>
                  <a:lnTo>
                    <a:pt x="6164580" y="2921000"/>
                  </a:lnTo>
                  <a:lnTo>
                    <a:pt x="3422650" y="179070"/>
                  </a:lnTo>
                  <a:lnTo>
                    <a:pt x="2679700" y="922020"/>
                  </a:lnTo>
                  <a:lnTo>
                    <a:pt x="4152900" y="2395220"/>
                  </a:lnTo>
                  <a:lnTo>
                    <a:pt x="127000" y="2395220"/>
                  </a:lnTo>
                  <a:lnTo>
                    <a:pt x="127000" y="3445510"/>
                  </a:lnTo>
                  <a:lnTo>
                    <a:pt x="4152900" y="3445510"/>
                  </a:lnTo>
                  <a:lnTo>
                    <a:pt x="2679700" y="4918710"/>
                  </a:lnTo>
                  <a:lnTo>
                    <a:pt x="3422650" y="5661660"/>
                  </a:lnTo>
                  <a:close/>
                </a:path>
              </a:pathLst>
            </a:custGeom>
            <a:solidFill>
              <a:srgbClr val="FD7270"/>
            </a:solidFill>
          </p:spPr>
        </p:sp>
      </p:grpSp>
      <p:grpSp>
        <p:nvGrpSpPr>
          <p:cNvPr name="Group 8" id="8"/>
          <p:cNvGrpSpPr/>
          <p:nvPr/>
        </p:nvGrpSpPr>
        <p:grpSpPr>
          <a:xfrm rot="0">
            <a:off x="6842057" y="2385617"/>
            <a:ext cx="4060819" cy="3489767"/>
            <a:chOff x="0" y="0"/>
            <a:chExt cx="812800" cy="698500"/>
          </a:xfrm>
        </p:grpSpPr>
        <p:sp>
          <p:nvSpPr>
            <p:cNvPr name="Freeform 9" id="9"/>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04AAD"/>
            </a:solidFill>
          </p:spPr>
        </p:sp>
        <p:sp>
          <p:nvSpPr>
            <p:cNvPr name="TextBox 10" id="10"/>
            <p:cNvSpPr txBox="true"/>
            <p:nvPr/>
          </p:nvSpPr>
          <p:spPr>
            <a:xfrm>
              <a:off x="114300" y="-47625"/>
              <a:ext cx="584200" cy="746125"/>
            </a:xfrm>
            <a:prstGeom prst="rect">
              <a:avLst/>
            </a:prstGeom>
          </p:spPr>
          <p:txBody>
            <a:bodyPr anchor="ctr" rtlCol="false" tIns="50800" lIns="50800" bIns="50800" rIns="50800"/>
            <a:lstStyle/>
            <a:p>
              <a:pPr algn="ctr">
                <a:lnSpc>
                  <a:spcPts val="3499"/>
                </a:lnSpc>
              </a:pPr>
              <a:r>
                <a:rPr lang="en-US" sz="2499" b="true">
                  <a:solidFill>
                    <a:srgbClr val="FFFFFF"/>
                  </a:solidFill>
                  <a:latin typeface="Canva Sans Bold"/>
                  <a:ea typeface="Canva Sans Bold"/>
                  <a:cs typeface="Canva Sans Bold"/>
                  <a:sym typeface="Canva Sans Bold"/>
                </a:rPr>
                <a:t>Machine Learning Model</a:t>
              </a:r>
            </a:p>
            <a:p>
              <a:pPr algn="ctr">
                <a:lnSpc>
                  <a:spcPts val="3499"/>
                </a:lnSpc>
                <a:spcBef>
                  <a:spcPct val="0"/>
                </a:spcBef>
              </a:pPr>
              <a:r>
                <a:rPr lang="en-US" b="true" sz="2499">
                  <a:solidFill>
                    <a:srgbClr val="FFFFFF"/>
                  </a:solidFill>
                  <a:latin typeface="Canva Sans Bold"/>
                  <a:ea typeface="Canva Sans Bold"/>
                  <a:cs typeface="Canva Sans Bold"/>
                  <a:sym typeface="Canva Sans Bold"/>
                </a:rPr>
                <a:t>(Logistic, RF, XGBoost,...)</a:t>
              </a:r>
            </a:p>
          </p:txBody>
        </p:sp>
      </p:grpSp>
      <p:grpSp>
        <p:nvGrpSpPr>
          <p:cNvPr name="Group 11" id="11"/>
          <p:cNvGrpSpPr/>
          <p:nvPr/>
        </p:nvGrpSpPr>
        <p:grpSpPr>
          <a:xfrm rot="0">
            <a:off x="11131477" y="3498226"/>
            <a:ext cx="1290641" cy="1188579"/>
            <a:chOff x="0" y="0"/>
            <a:chExt cx="6343650" cy="5842000"/>
          </a:xfrm>
        </p:grpSpPr>
        <p:sp>
          <p:nvSpPr>
            <p:cNvPr name="Freeform 12" id="12"/>
            <p:cNvSpPr/>
            <p:nvPr/>
          </p:nvSpPr>
          <p:spPr>
            <a:xfrm flipH="false" flipV="false" rot="0">
              <a:off x="68580" y="100330"/>
              <a:ext cx="6188710" cy="5651500"/>
            </a:xfrm>
            <a:custGeom>
              <a:avLst/>
              <a:gdLst/>
              <a:ahLst/>
              <a:cxnLst/>
              <a:rect r="r" b="b" t="t" l="l"/>
              <a:pathLst>
                <a:path h="5651500" w="6188710">
                  <a:moveTo>
                    <a:pt x="6188710" y="2825750"/>
                  </a:moveTo>
                  <a:lnTo>
                    <a:pt x="3362960" y="5651500"/>
                  </a:lnTo>
                  <a:lnTo>
                    <a:pt x="2536190" y="4824730"/>
                  </a:lnTo>
                  <a:lnTo>
                    <a:pt x="3933190" y="3404870"/>
                  </a:lnTo>
                  <a:lnTo>
                    <a:pt x="0" y="3402330"/>
                  </a:lnTo>
                  <a:lnTo>
                    <a:pt x="7620" y="2241550"/>
                  </a:lnTo>
                  <a:lnTo>
                    <a:pt x="3967480" y="2247900"/>
                  </a:lnTo>
                  <a:lnTo>
                    <a:pt x="2536190" y="826770"/>
                  </a:lnTo>
                  <a:lnTo>
                    <a:pt x="3362960" y="0"/>
                  </a:lnTo>
                  <a:lnTo>
                    <a:pt x="6188710" y="2825750"/>
                  </a:lnTo>
                  <a:close/>
                </a:path>
              </a:pathLst>
            </a:custGeom>
            <a:blipFill>
              <a:blip r:embed="rId2"/>
              <a:stretch>
                <a:fillRect l="0" t="-5805" r="0" b="-5805"/>
              </a:stretch>
            </a:blipFill>
          </p:spPr>
        </p:sp>
        <p:sp>
          <p:nvSpPr>
            <p:cNvPr name="Freeform 13" id="13"/>
            <p:cNvSpPr/>
            <p:nvPr/>
          </p:nvSpPr>
          <p:spPr>
            <a:xfrm flipH="false" flipV="false" rot="0">
              <a:off x="0" y="0"/>
              <a:ext cx="6343650" cy="5842000"/>
            </a:xfrm>
            <a:custGeom>
              <a:avLst/>
              <a:gdLst/>
              <a:ahLst/>
              <a:cxnLst/>
              <a:rect r="r" b="b" t="t" l="l"/>
              <a:pathLst>
                <a:path h="5842000" w="6343650">
                  <a:moveTo>
                    <a:pt x="6343650" y="2921000"/>
                  </a:moveTo>
                  <a:lnTo>
                    <a:pt x="3422650" y="5842000"/>
                  </a:lnTo>
                  <a:lnTo>
                    <a:pt x="2500630" y="4919980"/>
                  </a:lnTo>
                  <a:lnTo>
                    <a:pt x="3846830" y="3573780"/>
                  </a:lnTo>
                  <a:lnTo>
                    <a:pt x="0" y="3573780"/>
                  </a:lnTo>
                  <a:lnTo>
                    <a:pt x="0" y="2269490"/>
                  </a:lnTo>
                  <a:lnTo>
                    <a:pt x="3846830" y="2269490"/>
                  </a:lnTo>
                  <a:lnTo>
                    <a:pt x="2500630" y="923290"/>
                  </a:lnTo>
                  <a:lnTo>
                    <a:pt x="3422650" y="0"/>
                  </a:lnTo>
                  <a:lnTo>
                    <a:pt x="6343650" y="2921000"/>
                  </a:lnTo>
                  <a:close/>
                  <a:moveTo>
                    <a:pt x="3422650" y="5662930"/>
                  </a:moveTo>
                  <a:lnTo>
                    <a:pt x="6164580" y="2921000"/>
                  </a:lnTo>
                  <a:lnTo>
                    <a:pt x="3422650" y="179070"/>
                  </a:lnTo>
                  <a:lnTo>
                    <a:pt x="2679700" y="922020"/>
                  </a:lnTo>
                  <a:lnTo>
                    <a:pt x="4152900" y="2395220"/>
                  </a:lnTo>
                  <a:lnTo>
                    <a:pt x="127000" y="2395220"/>
                  </a:lnTo>
                  <a:lnTo>
                    <a:pt x="127000" y="3445510"/>
                  </a:lnTo>
                  <a:lnTo>
                    <a:pt x="4152900" y="3445510"/>
                  </a:lnTo>
                  <a:lnTo>
                    <a:pt x="2679700" y="4918710"/>
                  </a:lnTo>
                  <a:lnTo>
                    <a:pt x="3422650" y="5661660"/>
                  </a:lnTo>
                  <a:close/>
                </a:path>
              </a:pathLst>
            </a:custGeom>
            <a:solidFill>
              <a:srgbClr val="FD7270"/>
            </a:solidFill>
          </p:spPr>
        </p:sp>
      </p:grpSp>
      <p:grpSp>
        <p:nvGrpSpPr>
          <p:cNvPr name="Group 14" id="14"/>
          <p:cNvGrpSpPr/>
          <p:nvPr/>
        </p:nvGrpSpPr>
        <p:grpSpPr>
          <a:xfrm rot="0">
            <a:off x="12650718" y="2962954"/>
            <a:ext cx="4060819" cy="2030410"/>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4AAD"/>
            </a:solidFill>
          </p:spPr>
        </p:sp>
        <p:sp>
          <p:nvSpPr>
            <p:cNvPr name="TextBox 16" id="16"/>
            <p:cNvSpPr txBox="true"/>
            <p:nvPr/>
          </p:nvSpPr>
          <p:spPr>
            <a:xfrm>
              <a:off x="0" y="-47625"/>
              <a:ext cx="812800" cy="454025"/>
            </a:xfrm>
            <a:prstGeom prst="rect">
              <a:avLst/>
            </a:prstGeom>
          </p:spPr>
          <p:txBody>
            <a:bodyPr anchor="ctr" rtlCol="false" tIns="50800" lIns="50800" bIns="50800" rIns="50800"/>
            <a:lstStyle/>
            <a:p>
              <a:pPr algn="ctr">
                <a:lnSpc>
                  <a:spcPts val="3499"/>
                </a:lnSpc>
              </a:pPr>
              <a:r>
                <a:rPr lang="en-US" sz="2499" b="true">
                  <a:solidFill>
                    <a:srgbClr val="FFFFFF"/>
                  </a:solidFill>
                  <a:latin typeface="Canva Sans Bold"/>
                  <a:ea typeface="Canva Sans Bold"/>
                  <a:cs typeface="Canva Sans Bold"/>
                  <a:sym typeface="Canva Sans Bold"/>
                </a:rPr>
                <a:t>Income Prediction</a:t>
              </a:r>
            </a:p>
            <a:p>
              <a:pPr algn="ctr">
                <a:lnSpc>
                  <a:spcPts val="3499"/>
                </a:lnSpc>
                <a:spcBef>
                  <a:spcPct val="0"/>
                </a:spcBef>
              </a:pPr>
              <a:r>
                <a:rPr lang="en-US" b="true" sz="2499">
                  <a:solidFill>
                    <a:srgbClr val="FFFFFF"/>
                  </a:solidFill>
                  <a:latin typeface="Canva Sans Bold"/>
                  <a:ea typeface="Canva Sans Bold"/>
                  <a:cs typeface="Canva Sans Bold"/>
                  <a:sym typeface="Canva Sans Bold"/>
                </a:rPr>
                <a:t>&gt;50K / &lt;=50K</a:t>
              </a:r>
            </a:p>
          </p:txBody>
        </p:sp>
      </p:grpSp>
      <p:sp>
        <p:nvSpPr>
          <p:cNvPr name="TextBox 17" id="17"/>
          <p:cNvSpPr txBox="true"/>
          <p:nvPr/>
        </p:nvSpPr>
        <p:spPr>
          <a:xfrm rot="0">
            <a:off x="789692" y="1469402"/>
            <a:ext cx="15442118" cy="580372"/>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Input/Feature X: </a:t>
            </a:r>
            <a:r>
              <a:rPr lang="en-US" sz="3399">
                <a:solidFill>
                  <a:srgbClr val="000000"/>
                </a:solidFill>
                <a:latin typeface="Garet"/>
                <a:ea typeface="Garet"/>
                <a:cs typeface="Garet"/>
                <a:sym typeface="Garet"/>
              </a:rPr>
              <a:t>14 categorical và numberic variable</a:t>
            </a:r>
          </a:p>
        </p:txBody>
      </p:sp>
      <p:sp>
        <p:nvSpPr>
          <p:cNvPr name="TextBox 18" id="18"/>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Input và Output of Problem</a:t>
            </a:r>
          </a:p>
        </p:txBody>
      </p:sp>
      <p:sp>
        <p:nvSpPr>
          <p:cNvPr name="Freeform 19" id="19"/>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3"/>
            <a:stretch>
              <a:fillRect l="-110303" t="-185295" r="-110303" b="0"/>
            </a:stretch>
          </a:blipFill>
        </p:spPr>
      </p:sp>
      <p:sp>
        <p:nvSpPr>
          <p:cNvPr name="TextBox 20" id="20"/>
          <p:cNvSpPr txBox="true"/>
          <p:nvPr/>
        </p:nvSpPr>
        <p:spPr>
          <a:xfrm rot="0">
            <a:off x="1028700" y="6151609"/>
            <a:ext cx="15470114" cy="3649162"/>
          </a:xfrm>
          <a:prstGeom prst="rect">
            <a:avLst/>
          </a:prstGeom>
        </p:spPr>
        <p:txBody>
          <a:bodyPr anchor="t" rtlCol="false" tIns="0" lIns="0" bIns="0" rIns="0">
            <a:spAutoFit/>
          </a:bodyPr>
          <a:lstStyle/>
          <a:p>
            <a:pPr algn="l">
              <a:lnSpc>
                <a:spcPts val="4140"/>
              </a:lnSpc>
            </a:pPr>
            <a:r>
              <a:rPr lang="en-US" sz="2957" b="true">
                <a:solidFill>
                  <a:srgbClr val="000000"/>
                </a:solidFill>
                <a:latin typeface="Garet Bold"/>
                <a:ea typeface="Garet Bold"/>
                <a:cs typeface="Garet Bold"/>
                <a:sym typeface="Garet Bold"/>
              </a:rPr>
              <a:t>Output/Target Y: Binary variable "income"</a:t>
            </a:r>
          </a:p>
          <a:p>
            <a:pPr algn="l" marL="638464" indent="-319232" lvl="1">
              <a:lnSpc>
                <a:spcPts val="4140"/>
              </a:lnSpc>
              <a:buFont typeface="Arial"/>
              <a:buChar char="•"/>
            </a:pPr>
            <a:r>
              <a:rPr lang="en-US" sz="2957">
                <a:solidFill>
                  <a:srgbClr val="000000"/>
                </a:solidFill>
                <a:latin typeface="Garet"/>
                <a:ea typeface="Garet"/>
                <a:cs typeface="Garet"/>
                <a:sym typeface="Garet"/>
              </a:rPr>
              <a:t>Y=1:</a:t>
            </a:r>
            <a:r>
              <a:rPr lang="en-US" sz="2957">
                <a:solidFill>
                  <a:srgbClr val="000000"/>
                </a:solidFill>
                <a:latin typeface="Garet"/>
                <a:ea typeface="Garet"/>
                <a:cs typeface="Garet"/>
                <a:sym typeface="Garet"/>
              </a:rPr>
              <a:t> Income &gt;50.000 USD</a:t>
            </a:r>
          </a:p>
          <a:p>
            <a:pPr algn="l" marL="638464" indent="-319232" lvl="1">
              <a:lnSpc>
                <a:spcPts val="4140"/>
              </a:lnSpc>
              <a:buFont typeface="Arial"/>
              <a:buChar char="•"/>
            </a:pPr>
            <a:r>
              <a:rPr lang="en-US" sz="2957">
                <a:solidFill>
                  <a:srgbClr val="000000"/>
                </a:solidFill>
                <a:latin typeface="Garet"/>
                <a:ea typeface="Garet"/>
                <a:cs typeface="Garet"/>
                <a:sym typeface="Garet"/>
              </a:rPr>
              <a:t>Y=0: Income &lt;=50.000 USD</a:t>
            </a:r>
          </a:p>
          <a:p>
            <a:pPr algn="l">
              <a:lnSpc>
                <a:spcPts val="4140"/>
              </a:lnSpc>
            </a:pPr>
            <a:r>
              <a:rPr lang="en-US" sz="2957" b="true">
                <a:solidFill>
                  <a:srgbClr val="000000"/>
                </a:solidFill>
                <a:latin typeface="Garet Bold"/>
                <a:ea typeface="Garet Bold"/>
                <a:cs typeface="Garet Bold"/>
                <a:sym typeface="Garet Bold"/>
              </a:rPr>
              <a:t>Moreover, outputs also answer these goal questions</a:t>
            </a:r>
          </a:p>
          <a:p>
            <a:pPr algn="l" marL="638464" indent="-319232" lvl="1">
              <a:lnSpc>
                <a:spcPts val="4140"/>
              </a:lnSpc>
              <a:buFont typeface="Arial"/>
              <a:buChar char="•"/>
            </a:pPr>
            <a:r>
              <a:rPr lang="en-US" sz="2957">
                <a:solidFill>
                  <a:srgbClr val="000000"/>
                </a:solidFill>
                <a:latin typeface="Garet"/>
                <a:ea typeface="Garet"/>
                <a:cs typeface="Garet"/>
                <a:sym typeface="Garet"/>
              </a:rPr>
              <a:t>M</a:t>
            </a:r>
            <a:r>
              <a:rPr lang="en-US" sz="2957">
                <a:solidFill>
                  <a:srgbClr val="000000"/>
                </a:solidFill>
                <a:latin typeface="Garet"/>
                <a:ea typeface="Garet"/>
                <a:cs typeface="Garet"/>
                <a:sym typeface="Garet"/>
              </a:rPr>
              <a:t>odel metrics.</a:t>
            </a:r>
          </a:p>
          <a:p>
            <a:pPr algn="l" marL="638464" indent="-319232" lvl="1">
              <a:lnSpc>
                <a:spcPts val="4140"/>
              </a:lnSpc>
              <a:buFont typeface="Arial"/>
              <a:buChar char="•"/>
            </a:pPr>
            <a:r>
              <a:rPr lang="en-US" sz="2957">
                <a:solidFill>
                  <a:srgbClr val="000000"/>
                </a:solidFill>
                <a:latin typeface="Garet"/>
                <a:ea typeface="Garet"/>
                <a:cs typeface="Garet"/>
                <a:sym typeface="Garet"/>
              </a:rPr>
              <a:t>Fairness Metrics (Disparate Impact), SHAP Waterfall Plot </a:t>
            </a:r>
          </a:p>
          <a:p>
            <a:pPr algn="l" marL="638464" indent="-319232" lvl="1">
              <a:lnSpc>
                <a:spcPts val="4140"/>
              </a:lnSpc>
              <a:buFont typeface="Arial"/>
              <a:buChar char="•"/>
            </a:pPr>
            <a:r>
              <a:rPr lang="en-US" sz="2957">
                <a:solidFill>
                  <a:srgbClr val="000000"/>
                </a:solidFill>
                <a:latin typeface="Garet"/>
                <a:ea typeface="Garet"/>
                <a:cs typeface="Garet"/>
                <a:sym typeface="Garet"/>
              </a:rPr>
              <a:t>SHAP Summary Plot, Feature Importance (Bar chart)...</a:t>
            </a:r>
          </a:p>
        </p:txBody>
      </p:sp>
      <p:sp>
        <p:nvSpPr>
          <p:cNvPr name="TextBox 21" id="21"/>
          <p:cNvSpPr txBox="true"/>
          <p:nvPr/>
        </p:nvSpPr>
        <p:spPr>
          <a:xfrm rot="0">
            <a:off x="17682130"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97214" y="2433535"/>
            <a:ext cx="15244011" cy="6787461"/>
          </a:xfrm>
          <a:prstGeom prst="rect">
            <a:avLst/>
          </a:prstGeom>
        </p:spPr>
        <p:txBody>
          <a:bodyPr anchor="t" rtlCol="false" tIns="0" lIns="0" bIns="0" rIns="0">
            <a:spAutoFit/>
          </a:bodyPr>
          <a:lstStyle/>
          <a:p>
            <a:pPr algn="l" marL="761503" indent="-380751" lvl="1">
              <a:lnSpc>
                <a:spcPts val="4937"/>
              </a:lnSpc>
              <a:buFont typeface="Arial"/>
              <a:buChar char="•"/>
            </a:pPr>
            <a:r>
              <a:rPr lang="en-US" b="true" sz="3527">
                <a:solidFill>
                  <a:srgbClr val="000000"/>
                </a:solidFill>
                <a:latin typeface="Garet Bold"/>
                <a:ea typeface="Garet Bold"/>
                <a:cs typeface="Garet Bold"/>
                <a:sym typeface="Garet Bold"/>
              </a:rPr>
              <a:t>Outdated data (1994):</a:t>
            </a:r>
            <a:r>
              <a:rPr lang="en-US" sz="3527">
                <a:solidFill>
                  <a:srgbClr val="000000"/>
                </a:solidFill>
                <a:latin typeface="Garet"/>
                <a:ea typeface="Garet"/>
                <a:cs typeface="Garet"/>
                <a:sym typeface="Garet"/>
              </a:rPr>
              <a:t> Income patterns may no longer reflect current conditions</a:t>
            </a:r>
          </a:p>
          <a:p>
            <a:pPr algn="l" marL="761503" indent="-380751" lvl="1">
              <a:lnSpc>
                <a:spcPts val="4937"/>
              </a:lnSpc>
              <a:buFont typeface="Arial"/>
              <a:buChar char="•"/>
            </a:pPr>
            <a:r>
              <a:rPr lang="en-US" b="true" sz="3527">
                <a:solidFill>
                  <a:srgbClr val="000000"/>
                </a:solidFill>
                <a:latin typeface="Garet Bold"/>
                <a:ea typeface="Garet Bold"/>
                <a:cs typeface="Garet Bold"/>
                <a:sym typeface="Garet Bold"/>
              </a:rPr>
              <a:t>Binary classification: </a:t>
            </a:r>
            <a:r>
              <a:rPr lang="en-US" sz="3527">
                <a:solidFill>
                  <a:srgbClr val="000000"/>
                </a:solidFill>
                <a:latin typeface="Garet"/>
                <a:ea typeface="Garet"/>
                <a:cs typeface="Garet"/>
                <a:sym typeface="Garet"/>
              </a:rPr>
              <a:t>Oversimplifies the problem and loses information about income levels</a:t>
            </a:r>
          </a:p>
          <a:p>
            <a:pPr algn="l" marL="761503" indent="-380751" lvl="1">
              <a:lnSpc>
                <a:spcPts val="4937"/>
              </a:lnSpc>
              <a:buFont typeface="Arial"/>
              <a:buChar char="•"/>
            </a:pPr>
            <a:r>
              <a:rPr lang="en-US" b="true" sz="3527">
                <a:solidFill>
                  <a:srgbClr val="000000"/>
                </a:solidFill>
                <a:latin typeface="Garet Bold"/>
                <a:ea typeface="Garet Bold"/>
                <a:cs typeface="Garet Bold"/>
                <a:sym typeface="Garet Bold"/>
              </a:rPr>
              <a:t>M</a:t>
            </a:r>
            <a:r>
              <a:rPr lang="en-US" b="true" sz="3527">
                <a:solidFill>
                  <a:srgbClr val="000000"/>
                </a:solidFill>
                <a:latin typeface="Garet Bold"/>
                <a:ea typeface="Garet Bold"/>
                <a:cs typeface="Garet Bold"/>
                <a:sym typeface="Garet Bold"/>
              </a:rPr>
              <a:t>issing important features: </a:t>
            </a:r>
            <a:r>
              <a:rPr lang="en-US" sz="3527">
                <a:solidFill>
                  <a:srgbClr val="000000"/>
                </a:solidFill>
                <a:latin typeface="Garet"/>
                <a:ea typeface="Garet"/>
                <a:cs typeface="Garet"/>
                <a:sym typeface="Garet"/>
              </a:rPr>
              <a:t>Lacks variables such as soft skills, location, assets, and social connections</a:t>
            </a:r>
          </a:p>
          <a:p>
            <a:pPr algn="l" marL="761503" indent="-380751" lvl="1">
              <a:lnSpc>
                <a:spcPts val="4937"/>
              </a:lnSpc>
              <a:buFont typeface="Arial"/>
              <a:buChar char="•"/>
            </a:pPr>
            <a:r>
              <a:rPr lang="en-US" b="true" sz="3527">
                <a:solidFill>
                  <a:srgbClr val="000000"/>
                </a:solidFill>
                <a:latin typeface="Garet Bold"/>
                <a:ea typeface="Garet Bold"/>
                <a:cs typeface="Garet Bold"/>
                <a:sym typeface="Garet Bold"/>
              </a:rPr>
              <a:t>Imbalance and missing data: </a:t>
            </a:r>
            <a:r>
              <a:rPr lang="en-US" sz="3527">
                <a:solidFill>
                  <a:srgbClr val="000000"/>
                </a:solidFill>
                <a:latin typeface="Garet"/>
                <a:ea typeface="Garet"/>
                <a:cs typeface="Garet"/>
                <a:sym typeface="Garet"/>
              </a:rPr>
              <a:t>Requires handling (e.g., SMOTE, class weighting, imputation)</a:t>
            </a:r>
          </a:p>
          <a:p>
            <a:pPr algn="l" marL="761503" indent="-380751" lvl="1">
              <a:lnSpc>
                <a:spcPts val="4937"/>
              </a:lnSpc>
              <a:spcBef>
                <a:spcPct val="0"/>
              </a:spcBef>
              <a:buFont typeface="Arial"/>
              <a:buChar char="•"/>
            </a:pPr>
            <a:r>
              <a:rPr lang="en-US" b="true" sz="3527">
                <a:solidFill>
                  <a:srgbClr val="000000"/>
                </a:solidFill>
                <a:latin typeface="Garet Bold"/>
                <a:ea typeface="Garet Bold"/>
                <a:cs typeface="Garet Bold"/>
                <a:sym typeface="Garet Bold"/>
              </a:rPr>
              <a:t>Risk of</a:t>
            </a:r>
            <a:r>
              <a:rPr lang="en-US" b="true" sz="3527">
                <a:solidFill>
                  <a:srgbClr val="000000"/>
                </a:solidFill>
                <a:latin typeface="Garet Bold"/>
                <a:ea typeface="Garet Bold"/>
                <a:cs typeface="Garet Bold"/>
                <a:sym typeface="Garet Bold"/>
              </a:rPr>
              <a:t> historical bias:</a:t>
            </a:r>
            <a:r>
              <a:rPr lang="en-US" sz="3527">
                <a:solidFill>
                  <a:srgbClr val="000000"/>
                </a:solidFill>
                <a:latin typeface="Garet"/>
                <a:ea typeface="Garet"/>
                <a:cs typeface="Garet"/>
                <a:sym typeface="Garet"/>
              </a:rPr>
              <a:t> The model may learn and amplify existing social biases</a:t>
            </a:r>
          </a:p>
          <a:p>
            <a:pPr algn="l">
              <a:lnSpc>
                <a:spcPts val="4937"/>
              </a:lnSpc>
              <a:spcBef>
                <a:spcPct val="0"/>
              </a:spcBef>
            </a:pPr>
          </a:p>
        </p:txBody>
      </p:sp>
      <p:sp>
        <p:nvSpPr>
          <p:cNvPr name="TextBox 3" id="3"/>
          <p:cNvSpPr txBox="true"/>
          <p:nvPr/>
        </p:nvSpPr>
        <p:spPr>
          <a:xfrm rot="0">
            <a:off x="17691655"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7</a:t>
            </a:r>
          </a:p>
        </p:txBody>
      </p:sp>
      <p:sp>
        <p:nvSpPr>
          <p:cNvPr name="TextBox 4" id="4"/>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Limitations of dataset</a:t>
            </a:r>
          </a:p>
        </p:txBody>
      </p:sp>
      <p:sp>
        <p:nvSpPr>
          <p:cNvPr name="Freeform 5" id="5"/>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E41515"/>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55625" y="1220736"/>
            <a:ext cx="14974360" cy="8534201"/>
          </a:xfrm>
          <a:custGeom>
            <a:avLst/>
            <a:gdLst/>
            <a:ahLst/>
            <a:cxnLst/>
            <a:rect r="r" b="b" t="t" l="l"/>
            <a:pathLst>
              <a:path h="8534201" w="14974360">
                <a:moveTo>
                  <a:pt x="0" y="0"/>
                </a:moveTo>
                <a:lnTo>
                  <a:pt x="14974360" y="0"/>
                </a:lnTo>
                <a:lnTo>
                  <a:pt x="14974360" y="8534200"/>
                </a:lnTo>
                <a:lnTo>
                  <a:pt x="0" y="8534200"/>
                </a:lnTo>
                <a:lnTo>
                  <a:pt x="0" y="0"/>
                </a:lnTo>
                <a:close/>
              </a:path>
            </a:pathLst>
          </a:custGeom>
          <a:blipFill>
            <a:blip r:embed="rId2"/>
            <a:stretch>
              <a:fillRect l="-1436" t="-502" r="0" b="-502"/>
            </a:stretch>
          </a:blipFill>
        </p:spPr>
      </p:sp>
      <p:sp>
        <p:nvSpPr>
          <p:cNvPr name="TextBox 3" id="3"/>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EDA</a:t>
            </a:r>
          </a:p>
        </p:txBody>
      </p:sp>
      <p:sp>
        <p:nvSpPr>
          <p:cNvPr name="Freeform 4" id="4"/>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3"/>
            <a:stretch>
              <a:fillRect l="-110303" t="-185295" r="-110303" b="0"/>
            </a:stretch>
          </a:blipFill>
        </p:spPr>
      </p:sp>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8</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56865" y="174228"/>
            <a:ext cx="15029934" cy="9938544"/>
          </a:xfrm>
          <a:custGeom>
            <a:avLst/>
            <a:gdLst/>
            <a:ahLst/>
            <a:cxnLst/>
            <a:rect r="r" b="b" t="t" l="l"/>
            <a:pathLst>
              <a:path h="9938544" w="15029934">
                <a:moveTo>
                  <a:pt x="0" y="0"/>
                </a:moveTo>
                <a:lnTo>
                  <a:pt x="15029934" y="0"/>
                </a:lnTo>
                <a:lnTo>
                  <a:pt x="15029934" y="9938544"/>
                </a:lnTo>
                <a:lnTo>
                  <a:pt x="0" y="9938544"/>
                </a:lnTo>
                <a:lnTo>
                  <a:pt x="0" y="0"/>
                </a:lnTo>
                <a:close/>
              </a:path>
            </a:pathLst>
          </a:custGeom>
          <a:blipFill>
            <a:blip r:embed="rId2"/>
            <a:stretch>
              <a:fillRect l="0" t="0" r="0" b="0"/>
            </a:stretch>
          </a:blipFill>
        </p:spPr>
      </p:sp>
      <p:sp>
        <p:nvSpPr>
          <p:cNvPr name="TextBox 3" id="3"/>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9</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29080" y="1328796"/>
            <a:ext cx="14157583" cy="8734706"/>
          </a:xfrm>
          <a:custGeom>
            <a:avLst/>
            <a:gdLst/>
            <a:ahLst/>
            <a:cxnLst/>
            <a:rect r="r" b="b" t="t" l="l"/>
            <a:pathLst>
              <a:path h="8734706" w="14157583">
                <a:moveTo>
                  <a:pt x="0" y="0"/>
                </a:moveTo>
                <a:lnTo>
                  <a:pt x="14157584" y="0"/>
                </a:lnTo>
                <a:lnTo>
                  <a:pt x="14157584" y="8734706"/>
                </a:lnTo>
                <a:lnTo>
                  <a:pt x="0" y="8734706"/>
                </a:lnTo>
                <a:lnTo>
                  <a:pt x="0" y="0"/>
                </a:lnTo>
                <a:close/>
              </a:path>
            </a:pathLst>
          </a:custGeom>
          <a:blipFill>
            <a:blip r:embed="rId2"/>
            <a:stretch>
              <a:fillRect l="0" t="0" r="0" b="0"/>
            </a:stretch>
          </a:blipFill>
        </p:spPr>
      </p:sp>
      <p:sp>
        <p:nvSpPr>
          <p:cNvPr name="TextBox 3" id="3"/>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Processing  Pipeline</a:t>
            </a:r>
          </a:p>
        </p:txBody>
      </p:sp>
      <p:sp>
        <p:nvSpPr>
          <p:cNvPr name="Freeform 4" id="4"/>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3"/>
            <a:stretch>
              <a:fillRect l="-110303" t="-185295" r="-110303" b="0"/>
            </a:stretch>
          </a:blipFill>
        </p:spPr>
      </p:sp>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10</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E41515"/>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
            <a:ext cx="18288000" cy="10081260"/>
          </a:xfrm>
          <a:custGeom>
            <a:avLst/>
            <a:gdLst/>
            <a:ahLst/>
            <a:cxnLst/>
            <a:rect r="r" b="b" t="t" l="l"/>
            <a:pathLst>
              <a:path h="10081260" w="18288000">
                <a:moveTo>
                  <a:pt x="0" y="0"/>
                </a:moveTo>
                <a:lnTo>
                  <a:pt x="18288000" y="0"/>
                </a:lnTo>
                <a:lnTo>
                  <a:pt x="18288000" y="10081260"/>
                </a:lnTo>
                <a:lnTo>
                  <a:pt x="0" y="10081260"/>
                </a:lnTo>
                <a:lnTo>
                  <a:pt x="0" y="0"/>
                </a:lnTo>
                <a:close/>
              </a:path>
            </a:pathLst>
          </a:custGeom>
          <a:blipFill>
            <a:blip r:embed="rId2"/>
            <a:stretch>
              <a:fillRect l="0" t="0" r="0" b="0"/>
            </a:stretch>
          </a:blipFill>
        </p:spPr>
      </p:sp>
      <p:sp>
        <p:nvSpPr>
          <p:cNvPr name="TextBox 3" id="3"/>
          <p:cNvSpPr txBox="true"/>
          <p:nvPr/>
        </p:nvSpPr>
        <p:spPr>
          <a:xfrm rot="0">
            <a:off x="12476900" y="4753428"/>
            <a:ext cx="5526407" cy="2200206"/>
          </a:xfrm>
          <a:prstGeom prst="rect">
            <a:avLst/>
          </a:prstGeom>
        </p:spPr>
        <p:txBody>
          <a:bodyPr anchor="t" rtlCol="false" tIns="0" lIns="0" bIns="0" rIns="0">
            <a:spAutoFit/>
          </a:bodyPr>
          <a:lstStyle/>
          <a:p>
            <a:pPr algn="just">
              <a:lnSpc>
                <a:spcPts val="2956"/>
              </a:lnSpc>
              <a:spcBef>
                <a:spcPct val="0"/>
              </a:spcBef>
            </a:pPr>
            <a:r>
              <a:rPr lang="en-US" b="true" sz="1932">
                <a:solidFill>
                  <a:srgbClr val="000000"/>
                </a:solidFill>
                <a:latin typeface="Montserrat Bold"/>
                <a:ea typeface="Montserrat Bold"/>
                <a:cs typeface="Montserrat Bold"/>
                <a:sym typeface="Montserrat Bold"/>
              </a:rPr>
              <a:t>Create</a:t>
            </a:r>
            <a:r>
              <a:rPr lang="en-US" b="true" sz="1932">
                <a:solidFill>
                  <a:srgbClr val="000000"/>
                </a:solidFill>
                <a:latin typeface="Montserrat Bold"/>
                <a:ea typeface="Montserrat Bold"/>
                <a:cs typeface="Montserrat Bold"/>
                <a:sym typeface="Montserrat Bold"/>
              </a:rPr>
              <a:t> interaction features between race and key socio-economic variables (education, hours, capital) to analyze fairness.</a:t>
            </a:r>
          </a:p>
          <a:p>
            <a:pPr algn="just">
              <a:lnSpc>
                <a:spcPts val="2956"/>
              </a:lnSpc>
              <a:spcBef>
                <a:spcPct val="0"/>
              </a:spcBef>
            </a:pPr>
            <a:r>
              <a:rPr lang="en-US" b="true" sz="1932">
                <a:solidFill>
                  <a:srgbClr val="000000"/>
                </a:solidFill>
                <a:latin typeface="Montserrat Bold"/>
                <a:ea typeface="Montserrat Bold"/>
                <a:cs typeface="Montserrat Bold"/>
                <a:sym typeface="Montserrat Bold"/>
              </a:rPr>
              <a:t>Form three feature groups: edu_x_race_*, hours_x_race_*, and capital_x_race_*.</a:t>
            </a:r>
          </a:p>
        </p:txBody>
      </p:sp>
      <p:sp>
        <p:nvSpPr>
          <p:cNvPr name="TextBox 4" id="4"/>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463279" y="2272166"/>
            <a:ext cx="9399756" cy="4451156"/>
          </a:xfrm>
          <a:custGeom>
            <a:avLst/>
            <a:gdLst/>
            <a:ahLst/>
            <a:cxnLst/>
            <a:rect r="r" b="b" t="t" l="l"/>
            <a:pathLst>
              <a:path h="4451156" w="9399756">
                <a:moveTo>
                  <a:pt x="0" y="0"/>
                </a:moveTo>
                <a:lnTo>
                  <a:pt x="9399756" y="0"/>
                </a:lnTo>
                <a:lnTo>
                  <a:pt x="9399756" y="4451156"/>
                </a:lnTo>
                <a:lnTo>
                  <a:pt x="0" y="4451156"/>
                </a:lnTo>
                <a:lnTo>
                  <a:pt x="0" y="0"/>
                </a:lnTo>
                <a:close/>
              </a:path>
            </a:pathLst>
          </a:custGeom>
          <a:blipFill>
            <a:blip r:embed="rId2"/>
            <a:stretch>
              <a:fillRect l="-242" t="0" r="-242" b="0"/>
            </a:stretch>
          </a:blipFill>
        </p:spPr>
      </p:sp>
      <p:sp>
        <p:nvSpPr>
          <p:cNvPr name="Freeform 3" id="3"/>
          <p:cNvSpPr/>
          <p:nvPr/>
        </p:nvSpPr>
        <p:spPr>
          <a:xfrm flipH="false" flipV="false" rot="0">
            <a:off x="10739625" y="1447633"/>
            <a:ext cx="7326106" cy="5620892"/>
          </a:xfrm>
          <a:custGeom>
            <a:avLst/>
            <a:gdLst/>
            <a:ahLst/>
            <a:cxnLst/>
            <a:rect r="r" b="b" t="t" l="l"/>
            <a:pathLst>
              <a:path h="5620892" w="7326106">
                <a:moveTo>
                  <a:pt x="0" y="0"/>
                </a:moveTo>
                <a:lnTo>
                  <a:pt x="7326107" y="0"/>
                </a:lnTo>
                <a:lnTo>
                  <a:pt x="7326107" y="5620892"/>
                </a:lnTo>
                <a:lnTo>
                  <a:pt x="0" y="5620892"/>
                </a:lnTo>
                <a:lnTo>
                  <a:pt x="0" y="0"/>
                </a:lnTo>
                <a:close/>
              </a:path>
            </a:pathLst>
          </a:custGeom>
          <a:blipFill>
            <a:blip r:embed="rId3"/>
            <a:stretch>
              <a:fillRect l="0" t="0" r="0" b="0"/>
            </a:stretch>
          </a:blipFill>
        </p:spPr>
      </p:sp>
      <p:sp>
        <p:nvSpPr>
          <p:cNvPr name="TextBox 4" id="4"/>
          <p:cNvSpPr txBox="true"/>
          <p:nvPr/>
        </p:nvSpPr>
        <p:spPr>
          <a:xfrm rot="0">
            <a:off x="519672" y="7344750"/>
            <a:ext cx="17248656" cy="2352675"/>
          </a:xfrm>
          <a:prstGeom prst="rect">
            <a:avLst/>
          </a:prstGeom>
        </p:spPr>
        <p:txBody>
          <a:bodyPr anchor="t" rtlCol="false" tIns="0" lIns="0" bIns="0" rIns="0">
            <a:spAutoFit/>
          </a:bodyPr>
          <a:lstStyle/>
          <a:p>
            <a:pPr algn="just">
              <a:lnSpc>
                <a:spcPts val="3824"/>
              </a:lnSpc>
              <a:spcBef>
                <a:spcPct val="0"/>
              </a:spcBef>
            </a:pPr>
            <a:r>
              <a:rPr lang="en-US" b="true" sz="2499">
                <a:solidFill>
                  <a:srgbClr val="000000"/>
                </a:solidFill>
                <a:latin typeface="Montserrat Bold"/>
                <a:ea typeface="Montserrat Bold"/>
                <a:cs typeface="Montserrat Bold"/>
                <a:sym typeface="Montserrat Bold"/>
              </a:rPr>
              <a:t>►</a:t>
            </a:r>
            <a:r>
              <a:rPr lang="en-US" b="true" sz="2499">
                <a:solidFill>
                  <a:srgbClr val="000000"/>
                </a:solidFill>
                <a:latin typeface="Montserrat Bold"/>
                <a:ea typeface="Montserrat Bold"/>
                <a:cs typeface="Montserrat Bold"/>
                <a:sym typeface="Montserrat Bold"/>
              </a:rPr>
              <a:t>Feature engineering primarily increases the number of features through interaction terms and fairness-related transformations, rather than simple encoding alone.</a:t>
            </a:r>
          </a:p>
          <a:p>
            <a:pPr algn="just">
              <a:lnSpc>
                <a:spcPts val="3824"/>
              </a:lnSpc>
              <a:spcBef>
                <a:spcPct val="0"/>
              </a:spcBef>
            </a:pPr>
          </a:p>
          <a:p>
            <a:pPr algn="just">
              <a:lnSpc>
                <a:spcPts val="3824"/>
              </a:lnSpc>
              <a:spcBef>
                <a:spcPct val="0"/>
              </a:spcBef>
            </a:pPr>
            <a:r>
              <a:rPr lang="en-US" b="true" sz="2499">
                <a:solidFill>
                  <a:srgbClr val="000000"/>
                </a:solidFill>
                <a:latin typeface="Montserrat Bold"/>
                <a:ea typeface="Montserrat Bold"/>
                <a:cs typeface="Montserrat Bold"/>
                <a:sym typeface="Montserrat Bold"/>
              </a:rPr>
              <a:t>►A variety of encoding and scaling techniques are applied, but most new features are generated from one-hot encoding and interaction features.</a:t>
            </a:r>
          </a:p>
        </p:txBody>
      </p:sp>
      <p:sp>
        <p:nvSpPr>
          <p:cNvPr name="TextBox 5" id="5"/>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Feature Engineering</a:t>
            </a:r>
          </a:p>
        </p:txBody>
      </p:sp>
      <p:sp>
        <p:nvSpPr>
          <p:cNvPr name="Freeform 6" id="6"/>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4"/>
            <a:stretch>
              <a:fillRect l="-110303" t="-185295" r="-110303" b="0"/>
            </a:stretch>
          </a:blipFill>
        </p:spPr>
      </p:sp>
      <p:sp>
        <p:nvSpPr>
          <p:cNvPr name="TextBox 7" id="7"/>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12</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E41515"/>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38225" y="1821960"/>
            <a:ext cx="14963394" cy="1180429"/>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To address this binary classification problem, the followi</a:t>
            </a:r>
            <a:r>
              <a:rPr lang="en-US" sz="3399" b="true">
                <a:solidFill>
                  <a:srgbClr val="000000"/>
                </a:solidFill>
                <a:latin typeface="Garet Bold"/>
                <a:ea typeface="Garet Bold"/>
                <a:cs typeface="Garet Bold"/>
                <a:sym typeface="Garet Bold"/>
              </a:rPr>
              <a:t>ng models are applied:</a:t>
            </a:r>
          </a:p>
        </p:txBody>
      </p:sp>
      <p:sp>
        <p:nvSpPr>
          <p:cNvPr name="TextBox 3" id="3"/>
          <p:cNvSpPr txBox="true"/>
          <p:nvPr/>
        </p:nvSpPr>
        <p:spPr>
          <a:xfrm rot="0">
            <a:off x="1038225" y="3175437"/>
            <a:ext cx="15442118" cy="2380616"/>
          </a:xfrm>
          <a:prstGeom prst="rect">
            <a:avLst/>
          </a:prstGeom>
        </p:spPr>
        <p:txBody>
          <a:bodyPr anchor="t" rtlCol="false" tIns="0" lIns="0" bIns="0" rIns="0">
            <a:spAutoFit/>
          </a:bodyPr>
          <a:lstStyle/>
          <a:p>
            <a:pPr algn="l" marL="734051" indent="-367026" lvl="1">
              <a:lnSpc>
                <a:spcPts val="4759"/>
              </a:lnSpc>
              <a:buFont typeface="Arial"/>
              <a:buChar char="•"/>
            </a:pPr>
            <a:r>
              <a:rPr lang="en-US" sz="3399">
                <a:solidFill>
                  <a:srgbClr val="000000"/>
                </a:solidFill>
                <a:latin typeface="Garet"/>
                <a:ea typeface="Garet"/>
                <a:cs typeface="Garet"/>
                <a:sym typeface="Garet"/>
              </a:rPr>
              <a:t>Logistic Regression </a:t>
            </a:r>
          </a:p>
          <a:p>
            <a:pPr algn="l" marL="734051" indent="-367026" lvl="1">
              <a:lnSpc>
                <a:spcPts val="4759"/>
              </a:lnSpc>
              <a:buFont typeface="Arial"/>
              <a:buChar char="•"/>
            </a:pPr>
            <a:r>
              <a:rPr lang="en-US" sz="3399">
                <a:solidFill>
                  <a:srgbClr val="000000"/>
                </a:solidFill>
                <a:latin typeface="Garet"/>
                <a:ea typeface="Garet"/>
                <a:cs typeface="Garet"/>
                <a:sym typeface="Garet"/>
              </a:rPr>
              <a:t>Random Forest Classification</a:t>
            </a:r>
          </a:p>
          <a:p>
            <a:pPr algn="l" marL="734051" indent="-367026" lvl="1">
              <a:lnSpc>
                <a:spcPts val="4759"/>
              </a:lnSpc>
              <a:buFont typeface="Arial"/>
              <a:buChar char="•"/>
            </a:pPr>
            <a:r>
              <a:rPr lang="en-US" sz="3399">
                <a:solidFill>
                  <a:srgbClr val="000000"/>
                </a:solidFill>
                <a:latin typeface="Garet"/>
                <a:ea typeface="Garet"/>
                <a:cs typeface="Garet"/>
                <a:sym typeface="Garet"/>
              </a:rPr>
              <a:t>LightGBM</a:t>
            </a:r>
          </a:p>
          <a:p>
            <a:pPr algn="l" marL="734051" indent="-367026" lvl="1">
              <a:lnSpc>
                <a:spcPts val="4759"/>
              </a:lnSpc>
              <a:buFont typeface="Arial"/>
              <a:buChar char="•"/>
            </a:pPr>
            <a:r>
              <a:rPr lang="en-US" sz="3399">
                <a:solidFill>
                  <a:srgbClr val="000000"/>
                </a:solidFill>
                <a:latin typeface="Garet"/>
                <a:ea typeface="Garet"/>
                <a:cs typeface="Garet"/>
                <a:sym typeface="Garet"/>
              </a:rPr>
              <a:t>XGBoost Classification</a:t>
            </a:r>
          </a:p>
        </p:txBody>
      </p:sp>
      <p:sp>
        <p:nvSpPr>
          <p:cNvPr name="TextBox 4" id="4"/>
          <p:cNvSpPr txBox="true"/>
          <p:nvPr/>
        </p:nvSpPr>
        <p:spPr>
          <a:xfrm rot="0">
            <a:off x="17691655" y="282663"/>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13</a:t>
            </a:r>
          </a:p>
        </p:txBody>
      </p:sp>
      <p:sp>
        <p:nvSpPr>
          <p:cNvPr name="TextBox 5" id="5"/>
          <p:cNvSpPr txBox="true"/>
          <p:nvPr/>
        </p:nvSpPr>
        <p:spPr>
          <a:xfrm rot="0">
            <a:off x="394473"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Machine Learning Models Used</a:t>
            </a:r>
          </a:p>
        </p:txBody>
      </p:sp>
      <p:sp>
        <p:nvSpPr>
          <p:cNvPr name="Freeform 6" id="6"/>
          <p:cNvSpPr/>
          <p:nvPr/>
        </p:nvSpPr>
        <p:spPr>
          <a:xfrm flipH="false" flipV="false" rot="0">
            <a:off x="472804"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7" id="7"/>
          <p:cNvSpPr txBox="true"/>
          <p:nvPr/>
        </p:nvSpPr>
        <p:spPr>
          <a:xfrm rot="0">
            <a:off x="0" y="7226934"/>
            <a:ext cx="18288000" cy="2031366"/>
          </a:xfrm>
          <a:prstGeom prst="rect">
            <a:avLst/>
          </a:prstGeom>
        </p:spPr>
        <p:txBody>
          <a:bodyPr anchor="t" rtlCol="false" tIns="0" lIns="0" bIns="0" rIns="0">
            <a:spAutoFit/>
          </a:bodyPr>
          <a:lstStyle/>
          <a:p>
            <a:pPr algn="l" marL="626104" indent="-313052" lvl="1">
              <a:lnSpc>
                <a:spcPts val="4059"/>
              </a:lnSpc>
              <a:spcBef>
                <a:spcPct val="0"/>
              </a:spcBef>
              <a:buFont typeface="Arial"/>
              <a:buChar char="•"/>
            </a:pPr>
            <a:r>
              <a:rPr lang="en-US" sz="2899">
                <a:solidFill>
                  <a:srgbClr val="000000"/>
                </a:solidFill>
                <a:latin typeface="Garet"/>
                <a:ea typeface="Garet"/>
                <a:cs typeface="Garet"/>
                <a:sym typeface="Garet"/>
              </a:rPr>
              <a:t>The models are selected to balance interpretability and predictive performance. Logistic Regression serves as a baseline, while Random Forest, XGBoost, and LightGBM capture non-linear relationships. </a:t>
            </a:r>
          </a:p>
          <a:p>
            <a:pPr algn="l" marL="626104" indent="-313052" lvl="1">
              <a:lnSpc>
                <a:spcPts val="4059"/>
              </a:lnSpc>
              <a:spcBef>
                <a:spcPct val="0"/>
              </a:spcBef>
              <a:buFont typeface="Arial"/>
              <a:buChar char="•"/>
            </a:pPr>
            <a:r>
              <a:rPr lang="en-US" sz="2899">
                <a:solidFill>
                  <a:srgbClr val="000000"/>
                </a:solidFill>
                <a:latin typeface="Garet"/>
                <a:ea typeface="Garet"/>
                <a:cs typeface="Garet"/>
                <a:sym typeface="Garet"/>
              </a:rPr>
              <a:t>This combination ensures accurate prediction and reliable feature importance analysis.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574738" y="2665865"/>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10012737" y="1393831"/>
          <a:ext cx="3771900" cy="5657850"/>
        </p:xfrm>
        <a:graphic>
          <a:graphicData uri="http://schemas.openxmlformats.org/presentationml/2006/ole">
            <p:oleObj imgW="4902200" imgH="6781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3101386" y="6110624"/>
            <a:ext cx="3557922" cy="494768"/>
          </a:xfrm>
          <a:prstGeom prst="rect">
            <a:avLst/>
          </a:prstGeom>
        </p:spPr>
        <p:txBody>
          <a:bodyPr anchor="t" rtlCol="false" tIns="0" lIns="0" bIns="0" rIns="0">
            <a:spAutoFit/>
          </a:bodyPr>
          <a:lstStyle/>
          <a:p>
            <a:pPr algn="ctr">
              <a:lnSpc>
                <a:spcPts val="4192"/>
              </a:lnSpc>
              <a:spcBef>
                <a:spcPct val="0"/>
              </a:spcBef>
            </a:pPr>
            <a:r>
              <a:rPr lang="en-US" b="true" sz="2739">
                <a:solidFill>
                  <a:srgbClr val="000000"/>
                </a:solidFill>
                <a:latin typeface="Montserrat Bold"/>
                <a:ea typeface="Montserrat Bold"/>
                <a:cs typeface="Montserrat Bold"/>
                <a:sym typeface="Montserrat Bold"/>
              </a:rPr>
              <a:t>Logistic Regression</a:t>
            </a:r>
          </a:p>
        </p:txBody>
      </p:sp>
      <p:sp>
        <p:nvSpPr>
          <p:cNvPr name="TextBox 5" id="5"/>
          <p:cNvSpPr txBox="true"/>
          <p:nvPr/>
        </p:nvSpPr>
        <p:spPr>
          <a:xfrm rot="0">
            <a:off x="11998713" y="6110625"/>
            <a:ext cx="2791365" cy="494767"/>
          </a:xfrm>
          <a:prstGeom prst="rect">
            <a:avLst/>
          </a:prstGeom>
        </p:spPr>
        <p:txBody>
          <a:bodyPr anchor="t" rtlCol="false" tIns="0" lIns="0" bIns="0" rIns="0">
            <a:spAutoFit/>
          </a:bodyPr>
          <a:lstStyle/>
          <a:p>
            <a:pPr algn="ctr">
              <a:lnSpc>
                <a:spcPts val="4192"/>
              </a:lnSpc>
              <a:spcBef>
                <a:spcPct val="0"/>
              </a:spcBef>
            </a:pPr>
            <a:r>
              <a:rPr lang="en-US" b="true" sz="2739">
                <a:solidFill>
                  <a:srgbClr val="000000"/>
                </a:solidFill>
                <a:latin typeface="Montserrat Bold"/>
                <a:ea typeface="Montserrat Bold"/>
                <a:cs typeface="Montserrat Bold"/>
                <a:sym typeface="Montserrat Bold"/>
              </a:rPr>
              <a:t>Random Forest</a:t>
            </a:r>
          </a:p>
        </p:txBody>
      </p:sp>
      <p:sp>
        <p:nvSpPr>
          <p:cNvPr name="TextBox 6" id="6"/>
          <p:cNvSpPr txBox="true"/>
          <p:nvPr/>
        </p:nvSpPr>
        <p:spPr>
          <a:xfrm rot="0">
            <a:off x="2574738" y="6938766"/>
            <a:ext cx="14684562" cy="2522408"/>
          </a:xfrm>
          <a:prstGeom prst="rect">
            <a:avLst/>
          </a:prstGeom>
        </p:spPr>
        <p:txBody>
          <a:bodyPr anchor="t" rtlCol="false" tIns="0" lIns="0" bIns="0" rIns="0">
            <a:spAutoFit/>
          </a:bodyPr>
          <a:lstStyle/>
          <a:p>
            <a:pPr algn="just">
              <a:lnSpc>
                <a:spcPts val="4077"/>
              </a:lnSpc>
              <a:spcBef>
                <a:spcPct val="0"/>
              </a:spcBef>
            </a:pPr>
            <a:r>
              <a:rPr lang="en-US" b="true" sz="2665">
                <a:solidFill>
                  <a:srgbClr val="000000"/>
                </a:solidFill>
                <a:latin typeface="Montserrat Bold"/>
                <a:ea typeface="Montserrat Bold"/>
                <a:cs typeface="Montserrat Bold"/>
                <a:sym typeface="Montserrat Bold"/>
              </a:rPr>
              <a:t>► Model</a:t>
            </a:r>
            <a:r>
              <a:rPr lang="en-US" b="true" sz="2665">
                <a:solidFill>
                  <a:srgbClr val="000000"/>
                </a:solidFill>
                <a:latin typeface="Montserrat Bold"/>
                <a:ea typeface="Montserrat Bold"/>
                <a:cs typeface="Montserrat Bold"/>
                <a:sym typeface="Montserrat Bold"/>
              </a:rPr>
              <a:t> parameters are selected based on configurations reported in prior research to ensure academic rigor and comparability</a:t>
            </a:r>
          </a:p>
          <a:p>
            <a:pPr algn="just">
              <a:lnSpc>
                <a:spcPts val="4077"/>
              </a:lnSpc>
              <a:spcBef>
                <a:spcPct val="0"/>
              </a:spcBef>
            </a:pPr>
            <a:r>
              <a:rPr lang="en-US" b="true" sz="2665">
                <a:solidFill>
                  <a:srgbClr val="000000"/>
                </a:solidFill>
                <a:latin typeface="Montserrat Bold"/>
                <a:ea typeface="Montserrat Bold"/>
                <a:cs typeface="Montserrat Bold"/>
                <a:sym typeface="Montserrat Bold"/>
              </a:rPr>
              <a:t>►These configurations have been validated on similar tasks and are therefore expected to provide stable performance with the proposed data exploration and preprocessing approaches</a:t>
            </a:r>
          </a:p>
        </p:txBody>
      </p:sp>
      <p:sp>
        <p:nvSpPr>
          <p:cNvPr name="TextBox 7" id="7"/>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Logistic Regression &amp; Random Forest config </a:t>
            </a:r>
          </a:p>
        </p:txBody>
      </p:sp>
      <p:sp>
        <p:nvSpPr>
          <p:cNvPr name="Freeform 8" id="8"/>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6"/>
            <a:stretch>
              <a:fillRect l="-110303" t="-185295" r="-110303" b="0"/>
            </a:stretch>
          </a:blipFill>
        </p:spPr>
      </p:sp>
      <p:sp>
        <p:nvSpPr>
          <p:cNvPr name="TextBox 9" id="9"/>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14</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591697" y="2985042"/>
          <a:ext cx="3771900" cy="4400550"/>
        </p:xfrm>
        <a:graphic>
          <a:graphicData uri="http://schemas.openxmlformats.org/presentationml/2006/ole">
            <p:oleObj imgW="4648200" imgH="527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9626920" y="1964191"/>
          <a:ext cx="3771900" cy="4400550"/>
        </p:xfrm>
        <a:graphic>
          <a:graphicData uri="http://schemas.openxmlformats.org/presentationml/2006/ole">
            <p:oleObj imgW="4648200" imgH="5270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3884900" y="6715937"/>
            <a:ext cx="1664736" cy="494767"/>
          </a:xfrm>
          <a:prstGeom prst="rect">
            <a:avLst/>
          </a:prstGeom>
        </p:spPr>
        <p:txBody>
          <a:bodyPr anchor="t" rtlCol="false" tIns="0" lIns="0" bIns="0" rIns="0">
            <a:spAutoFit/>
          </a:bodyPr>
          <a:lstStyle/>
          <a:p>
            <a:pPr algn="ctr">
              <a:lnSpc>
                <a:spcPts val="4192"/>
              </a:lnSpc>
              <a:spcBef>
                <a:spcPct val="0"/>
              </a:spcBef>
            </a:pPr>
            <a:r>
              <a:rPr lang="en-US" b="true" sz="2739">
                <a:solidFill>
                  <a:srgbClr val="000000"/>
                </a:solidFill>
                <a:latin typeface="Montserrat Bold"/>
                <a:ea typeface="Montserrat Bold"/>
                <a:cs typeface="Montserrat Bold"/>
                <a:sym typeface="Montserrat Bold"/>
              </a:rPr>
              <a:t>XGBoost </a:t>
            </a:r>
          </a:p>
        </p:txBody>
      </p:sp>
      <p:sp>
        <p:nvSpPr>
          <p:cNvPr name="TextBox 5" id="5"/>
          <p:cNvSpPr txBox="true"/>
          <p:nvPr/>
        </p:nvSpPr>
        <p:spPr>
          <a:xfrm rot="0">
            <a:off x="11879939" y="6715937"/>
            <a:ext cx="1817098" cy="494767"/>
          </a:xfrm>
          <a:prstGeom prst="rect">
            <a:avLst/>
          </a:prstGeom>
        </p:spPr>
        <p:txBody>
          <a:bodyPr anchor="t" rtlCol="false" tIns="0" lIns="0" bIns="0" rIns="0">
            <a:spAutoFit/>
          </a:bodyPr>
          <a:lstStyle/>
          <a:p>
            <a:pPr algn="ctr">
              <a:lnSpc>
                <a:spcPts val="4192"/>
              </a:lnSpc>
              <a:spcBef>
                <a:spcPct val="0"/>
              </a:spcBef>
            </a:pPr>
            <a:r>
              <a:rPr lang="en-US" b="true" sz="2739">
                <a:solidFill>
                  <a:srgbClr val="000000"/>
                </a:solidFill>
                <a:latin typeface="Montserrat Bold"/>
                <a:ea typeface="Montserrat Bold"/>
                <a:cs typeface="Montserrat Bold"/>
                <a:sym typeface="Montserrat Bold"/>
              </a:rPr>
              <a:t>LightGBM</a:t>
            </a:r>
          </a:p>
        </p:txBody>
      </p:sp>
      <p:sp>
        <p:nvSpPr>
          <p:cNvPr name="TextBox 6" id="6"/>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15</a:t>
            </a:r>
          </a:p>
        </p:txBody>
      </p:sp>
      <p:sp>
        <p:nvSpPr>
          <p:cNvPr name="TextBox 7" id="7"/>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XGBoost &amp; LightGBM config </a:t>
            </a:r>
          </a:p>
        </p:txBody>
      </p:sp>
      <p:sp>
        <p:nvSpPr>
          <p:cNvPr name="Freeform 8" id="8"/>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6"/>
            <a:stretch>
              <a:fillRect l="-110303" t="-185295" r="-110303"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E41515"/>
                </a:solidFill>
                <a:latin typeface="Calistoga"/>
                <a:ea typeface="Calistoga"/>
                <a:cs typeface="Calistoga"/>
                <a:sym typeface="Calistoga"/>
              </a:rPr>
              <a:t>6. Results</a:t>
            </a:r>
          </a:p>
          <a:p>
            <a:pPr algn="l">
              <a:lnSpc>
                <a:spcPts val="6373"/>
              </a:lnSpc>
            </a:pPr>
            <a:r>
              <a:rPr lang="en-US" sz="4552">
                <a:solidFill>
                  <a:srgbClr val="000000"/>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graphicFrame>
        <p:nvGraphicFramePr>
          <p:cNvPr name="Object 3" id="3"/>
          <p:cNvGraphicFramePr/>
          <p:nvPr/>
        </p:nvGraphicFramePr>
        <p:xfrm>
          <a:off x="1571492" y="5715422"/>
          <a:ext cx="16230600" cy="3447105"/>
        </p:xfrm>
        <a:graphic>
          <a:graphicData uri="http://schemas.openxmlformats.org/presentationml/2006/ole">
            <p:oleObj imgW="19469100" imgH="6692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4" id="4"/>
          <p:cNvGraphicFramePr/>
          <p:nvPr/>
        </p:nvGraphicFramePr>
        <p:xfrm>
          <a:off x="1571492" y="1357335"/>
          <a:ext cx="16230600" cy="3447105"/>
        </p:xfrm>
        <a:graphic>
          <a:graphicData uri="http://schemas.openxmlformats.org/presentationml/2006/ole">
            <p:oleObj imgW="19469100" imgH="6692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5" id="5"/>
          <p:cNvSpPr txBox="true"/>
          <p:nvPr/>
        </p:nvSpPr>
        <p:spPr>
          <a:xfrm rot="0">
            <a:off x="6180606" y="9315450"/>
            <a:ext cx="5320816" cy="381797"/>
          </a:xfrm>
          <a:prstGeom prst="rect">
            <a:avLst/>
          </a:prstGeom>
        </p:spPr>
        <p:txBody>
          <a:bodyPr anchor="t" rtlCol="false" tIns="0" lIns="0" bIns="0" rIns="0">
            <a:spAutoFit/>
          </a:bodyPr>
          <a:lstStyle/>
          <a:p>
            <a:pPr algn="ctr">
              <a:lnSpc>
                <a:spcPts val="2910"/>
              </a:lnSpc>
              <a:spcBef>
                <a:spcPct val="0"/>
              </a:spcBef>
            </a:pPr>
            <a:r>
              <a:rPr lang="en-US" sz="2910" spc="-229">
                <a:solidFill>
                  <a:srgbClr val="000000"/>
                </a:solidFill>
                <a:latin typeface="Calistoga"/>
                <a:ea typeface="Calistoga"/>
                <a:cs typeface="Calistoga"/>
                <a:sym typeface="Calistoga"/>
              </a:rPr>
              <a:t>Result after applying smote</a:t>
            </a:r>
          </a:p>
        </p:txBody>
      </p:sp>
      <p:sp>
        <p:nvSpPr>
          <p:cNvPr name="TextBox 6" id="6"/>
          <p:cNvSpPr txBox="true"/>
          <p:nvPr/>
        </p:nvSpPr>
        <p:spPr>
          <a:xfrm rot="0">
            <a:off x="6388342" y="4943053"/>
            <a:ext cx="5320816" cy="381797"/>
          </a:xfrm>
          <a:prstGeom prst="rect">
            <a:avLst/>
          </a:prstGeom>
        </p:spPr>
        <p:txBody>
          <a:bodyPr anchor="t" rtlCol="false" tIns="0" lIns="0" bIns="0" rIns="0">
            <a:spAutoFit/>
          </a:bodyPr>
          <a:lstStyle/>
          <a:p>
            <a:pPr algn="ctr">
              <a:lnSpc>
                <a:spcPts val="2910"/>
              </a:lnSpc>
              <a:spcBef>
                <a:spcPct val="0"/>
              </a:spcBef>
            </a:pPr>
            <a:r>
              <a:rPr lang="en-US" sz="2910" spc="-229">
                <a:solidFill>
                  <a:srgbClr val="000000"/>
                </a:solidFill>
                <a:latin typeface="Calistoga"/>
                <a:ea typeface="Calistoga"/>
                <a:cs typeface="Calistoga"/>
                <a:sym typeface="Calistoga"/>
              </a:rPr>
              <a:t>Result after not  handling  imbalance</a:t>
            </a:r>
          </a:p>
        </p:txBody>
      </p:sp>
      <p:sp>
        <p:nvSpPr>
          <p:cNvPr name="TextBox 7" id="7"/>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16</a:t>
            </a:r>
          </a:p>
        </p:txBody>
      </p:sp>
      <p:sp>
        <p:nvSpPr>
          <p:cNvPr name="TextBox 8" id="8"/>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Metrics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184002" y="1621281"/>
          <a:ext cx="16230600" cy="2705100"/>
        </p:xfrm>
        <a:graphic>
          <a:graphicData uri="http://schemas.openxmlformats.org/presentationml/2006/ole">
            <p:oleObj imgW="19469100" imgH="5943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4"/>
            <a:stretch>
              <a:fillRect l="-110303" t="-185295" r="-110303" b="0"/>
            </a:stretch>
          </a:blipFill>
        </p:spPr>
      </p:sp>
      <p:graphicFrame>
        <p:nvGraphicFramePr>
          <p:cNvPr name="Object 4" id="4"/>
          <p:cNvGraphicFramePr/>
          <p:nvPr/>
        </p:nvGraphicFramePr>
        <p:xfrm>
          <a:off x="1184002" y="5649421"/>
          <a:ext cx="17759162" cy="2759000"/>
        </p:xfrm>
        <a:graphic>
          <a:graphicData uri="http://schemas.openxmlformats.org/presentationml/2006/ole">
            <p:oleObj imgW="21297900" imgH="6311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17</a:t>
            </a:r>
          </a:p>
        </p:txBody>
      </p:sp>
      <p:sp>
        <p:nvSpPr>
          <p:cNvPr name="TextBox 6" id="6"/>
          <p:cNvSpPr txBox="true"/>
          <p:nvPr/>
        </p:nvSpPr>
        <p:spPr>
          <a:xfrm rot="0">
            <a:off x="3629430" y="4476035"/>
            <a:ext cx="11671301" cy="525686"/>
          </a:xfrm>
          <a:prstGeom prst="rect">
            <a:avLst/>
          </a:prstGeom>
        </p:spPr>
        <p:txBody>
          <a:bodyPr anchor="t" rtlCol="false" tIns="0" lIns="0" bIns="0" rIns="0">
            <a:spAutoFit/>
          </a:bodyPr>
          <a:lstStyle/>
          <a:p>
            <a:pPr algn="ctr">
              <a:lnSpc>
                <a:spcPts val="4452"/>
              </a:lnSpc>
              <a:spcBef>
                <a:spcPct val="0"/>
              </a:spcBef>
            </a:pPr>
            <a:r>
              <a:rPr lang="en-US" sz="2910">
                <a:solidFill>
                  <a:srgbClr val="2B2B2B"/>
                </a:solidFill>
                <a:latin typeface="Calistoga"/>
                <a:ea typeface="Calistoga"/>
                <a:cs typeface="Calistoga"/>
                <a:sym typeface="Calistoga"/>
              </a:rPr>
              <a:t>DOI: 10.17148/IJARCCE.2025.14801 using  optimal threshold</a:t>
            </a:r>
          </a:p>
        </p:txBody>
      </p:sp>
      <p:sp>
        <p:nvSpPr>
          <p:cNvPr name="TextBox 7" id="7"/>
          <p:cNvSpPr txBox="true"/>
          <p:nvPr/>
        </p:nvSpPr>
        <p:spPr>
          <a:xfrm rot="0">
            <a:off x="6483592" y="9315450"/>
            <a:ext cx="5320816" cy="381797"/>
          </a:xfrm>
          <a:prstGeom prst="rect">
            <a:avLst/>
          </a:prstGeom>
        </p:spPr>
        <p:txBody>
          <a:bodyPr anchor="t" rtlCol="false" tIns="0" lIns="0" bIns="0" rIns="0">
            <a:spAutoFit/>
          </a:bodyPr>
          <a:lstStyle/>
          <a:p>
            <a:pPr algn="ctr">
              <a:lnSpc>
                <a:spcPts val="2910"/>
              </a:lnSpc>
              <a:spcBef>
                <a:spcPct val="0"/>
              </a:spcBef>
            </a:pPr>
            <a:r>
              <a:rPr lang="en-US" sz="2910" spc="-229">
                <a:solidFill>
                  <a:srgbClr val="000000"/>
                </a:solidFill>
                <a:latin typeface="Calistoga"/>
                <a:ea typeface="Calistoga"/>
                <a:cs typeface="Calistoga"/>
                <a:sym typeface="Calistoga"/>
              </a:rPr>
              <a:t>Result after applying smote</a:t>
            </a:r>
          </a:p>
        </p:txBody>
      </p:sp>
      <p:sp>
        <p:nvSpPr>
          <p:cNvPr name="TextBox 8" id="8"/>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Metrics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8040" y="1152110"/>
            <a:ext cx="5714888" cy="4414751"/>
          </a:xfrm>
          <a:custGeom>
            <a:avLst/>
            <a:gdLst/>
            <a:ahLst/>
            <a:cxnLst/>
            <a:rect r="r" b="b" t="t" l="l"/>
            <a:pathLst>
              <a:path h="4414751" w="5714888">
                <a:moveTo>
                  <a:pt x="0" y="0"/>
                </a:moveTo>
                <a:lnTo>
                  <a:pt x="5714888" y="0"/>
                </a:lnTo>
                <a:lnTo>
                  <a:pt x="5714888" y="4414752"/>
                </a:lnTo>
                <a:lnTo>
                  <a:pt x="0" y="4414752"/>
                </a:lnTo>
                <a:lnTo>
                  <a:pt x="0" y="0"/>
                </a:lnTo>
                <a:close/>
              </a:path>
            </a:pathLst>
          </a:custGeom>
          <a:blipFill>
            <a:blip r:embed="rId2"/>
            <a:stretch>
              <a:fillRect l="0" t="0" r="0" b="0"/>
            </a:stretch>
          </a:blipFill>
        </p:spPr>
      </p:sp>
      <p:sp>
        <p:nvSpPr>
          <p:cNvPr name="Freeform 3" id="3"/>
          <p:cNvSpPr/>
          <p:nvPr/>
        </p:nvSpPr>
        <p:spPr>
          <a:xfrm flipH="false" flipV="false" rot="0">
            <a:off x="10306584" y="1236279"/>
            <a:ext cx="5757849" cy="4246414"/>
          </a:xfrm>
          <a:custGeom>
            <a:avLst/>
            <a:gdLst/>
            <a:ahLst/>
            <a:cxnLst/>
            <a:rect r="r" b="b" t="t" l="l"/>
            <a:pathLst>
              <a:path h="4246414" w="5757849">
                <a:moveTo>
                  <a:pt x="0" y="0"/>
                </a:moveTo>
                <a:lnTo>
                  <a:pt x="5757849" y="0"/>
                </a:lnTo>
                <a:lnTo>
                  <a:pt x="5757849" y="4246414"/>
                </a:lnTo>
                <a:lnTo>
                  <a:pt x="0" y="4246414"/>
                </a:lnTo>
                <a:lnTo>
                  <a:pt x="0" y="0"/>
                </a:lnTo>
                <a:close/>
              </a:path>
            </a:pathLst>
          </a:custGeom>
          <a:blipFill>
            <a:blip r:embed="rId3"/>
            <a:stretch>
              <a:fillRect l="0" t="0" r="0" b="0"/>
            </a:stretch>
          </a:blipFill>
        </p:spPr>
      </p:sp>
      <p:sp>
        <p:nvSpPr>
          <p:cNvPr name="Freeform 4" id="4"/>
          <p:cNvSpPr/>
          <p:nvPr/>
        </p:nvSpPr>
        <p:spPr>
          <a:xfrm flipH="false" flipV="false" rot="0">
            <a:off x="1375447" y="5482693"/>
            <a:ext cx="5878769" cy="4401728"/>
          </a:xfrm>
          <a:custGeom>
            <a:avLst/>
            <a:gdLst/>
            <a:ahLst/>
            <a:cxnLst/>
            <a:rect r="r" b="b" t="t" l="l"/>
            <a:pathLst>
              <a:path h="4401728" w="5878769">
                <a:moveTo>
                  <a:pt x="0" y="0"/>
                </a:moveTo>
                <a:lnTo>
                  <a:pt x="5878769" y="0"/>
                </a:lnTo>
                <a:lnTo>
                  <a:pt x="5878769" y="4401728"/>
                </a:lnTo>
                <a:lnTo>
                  <a:pt x="0" y="4401728"/>
                </a:lnTo>
                <a:lnTo>
                  <a:pt x="0" y="0"/>
                </a:lnTo>
                <a:close/>
              </a:path>
            </a:pathLst>
          </a:custGeom>
          <a:blipFill>
            <a:blip r:embed="rId4"/>
            <a:stretch>
              <a:fillRect l="0" t="0" r="0" b="0"/>
            </a:stretch>
          </a:blipFill>
        </p:spPr>
      </p:sp>
      <p:sp>
        <p:nvSpPr>
          <p:cNvPr name="Freeform 5" id="5"/>
          <p:cNvSpPr/>
          <p:nvPr/>
        </p:nvSpPr>
        <p:spPr>
          <a:xfrm flipH="false" flipV="false" rot="0">
            <a:off x="10184353" y="5539843"/>
            <a:ext cx="6002311" cy="4317560"/>
          </a:xfrm>
          <a:custGeom>
            <a:avLst/>
            <a:gdLst/>
            <a:ahLst/>
            <a:cxnLst/>
            <a:rect r="r" b="b" t="t" l="l"/>
            <a:pathLst>
              <a:path h="4317560" w="6002311">
                <a:moveTo>
                  <a:pt x="0" y="0"/>
                </a:moveTo>
                <a:lnTo>
                  <a:pt x="6002311" y="0"/>
                </a:lnTo>
                <a:lnTo>
                  <a:pt x="6002311" y="4317560"/>
                </a:lnTo>
                <a:lnTo>
                  <a:pt x="0" y="4317560"/>
                </a:lnTo>
                <a:lnTo>
                  <a:pt x="0" y="0"/>
                </a:lnTo>
                <a:close/>
              </a:path>
            </a:pathLst>
          </a:custGeom>
          <a:blipFill>
            <a:blip r:embed="rId4"/>
            <a:stretch>
              <a:fillRect l="0" t="-2045" r="0" b="-2045"/>
            </a:stretch>
          </a:blipFill>
        </p:spPr>
      </p:sp>
      <p:sp>
        <p:nvSpPr>
          <p:cNvPr name="TextBox 6" id="6"/>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18</a:t>
            </a:r>
          </a:p>
        </p:txBody>
      </p:sp>
      <p:sp>
        <p:nvSpPr>
          <p:cNvPr name="Freeform 7" id="7"/>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5"/>
            <a:stretch>
              <a:fillRect l="-110303" t="-185295" r="-110303" b="0"/>
            </a:stretch>
          </a:blipFill>
        </p:spPr>
      </p:sp>
      <p:sp>
        <p:nvSpPr>
          <p:cNvPr name="TextBox 8" id="8"/>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Analysis Learning Curves — SMOTE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8367" y="1318307"/>
            <a:ext cx="7124472" cy="5414981"/>
          </a:xfrm>
          <a:custGeom>
            <a:avLst/>
            <a:gdLst/>
            <a:ahLst/>
            <a:cxnLst/>
            <a:rect r="r" b="b" t="t" l="l"/>
            <a:pathLst>
              <a:path h="5414981" w="7124472">
                <a:moveTo>
                  <a:pt x="0" y="0"/>
                </a:moveTo>
                <a:lnTo>
                  <a:pt x="7124472" y="0"/>
                </a:lnTo>
                <a:lnTo>
                  <a:pt x="7124472" y="5414981"/>
                </a:lnTo>
                <a:lnTo>
                  <a:pt x="0" y="5414981"/>
                </a:lnTo>
                <a:lnTo>
                  <a:pt x="0" y="0"/>
                </a:lnTo>
                <a:close/>
              </a:path>
            </a:pathLst>
          </a:custGeom>
          <a:blipFill>
            <a:blip r:embed="rId2"/>
            <a:stretch>
              <a:fillRect l="0" t="0" r="0" b="0"/>
            </a:stretch>
          </a:blipFill>
        </p:spPr>
      </p:sp>
      <p:sp>
        <p:nvSpPr>
          <p:cNvPr name="Freeform 3" id="3"/>
          <p:cNvSpPr/>
          <p:nvPr/>
        </p:nvSpPr>
        <p:spPr>
          <a:xfrm flipH="false" flipV="false" rot="0">
            <a:off x="9065391" y="1152110"/>
            <a:ext cx="7121272" cy="5437891"/>
          </a:xfrm>
          <a:custGeom>
            <a:avLst/>
            <a:gdLst/>
            <a:ahLst/>
            <a:cxnLst/>
            <a:rect r="r" b="b" t="t" l="l"/>
            <a:pathLst>
              <a:path h="5437891" w="7121272">
                <a:moveTo>
                  <a:pt x="0" y="0"/>
                </a:moveTo>
                <a:lnTo>
                  <a:pt x="7121273" y="0"/>
                </a:lnTo>
                <a:lnTo>
                  <a:pt x="7121273" y="5437891"/>
                </a:lnTo>
                <a:lnTo>
                  <a:pt x="0" y="5437891"/>
                </a:lnTo>
                <a:lnTo>
                  <a:pt x="0" y="0"/>
                </a:lnTo>
                <a:close/>
              </a:path>
            </a:pathLst>
          </a:custGeom>
          <a:blipFill>
            <a:blip r:embed="rId3"/>
            <a:stretch>
              <a:fillRect l="0" t="0" r="0" b="0"/>
            </a:stretch>
          </a:blipFill>
        </p:spPr>
      </p:sp>
      <p:sp>
        <p:nvSpPr>
          <p:cNvPr name="TextBox 4" id="4"/>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19</a:t>
            </a:r>
          </a:p>
        </p:txBody>
      </p:sp>
      <p:sp>
        <p:nvSpPr>
          <p:cNvPr name="Freeform 5" id="5"/>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4"/>
            <a:stretch>
              <a:fillRect l="-110303" t="-185295" r="-110303" b="0"/>
            </a:stretch>
          </a:blipFill>
        </p:spPr>
      </p:sp>
      <p:sp>
        <p:nvSpPr>
          <p:cNvPr name="TextBox 6" id="6"/>
          <p:cNvSpPr txBox="true"/>
          <p:nvPr/>
        </p:nvSpPr>
        <p:spPr>
          <a:xfrm rot="0">
            <a:off x="384948" y="355777"/>
            <a:ext cx="14915784" cy="614890"/>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ROC &amp; Precision-Recall Curve</a:t>
            </a:r>
          </a:p>
        </p:txBody>
      </p:sp>
      <p:sp>
        <p:nvSpPr>
          <p:cNvPr name="TextBox 7" id="7"/>
          <p:cNvSpPr txBox="true"/>
          <p:nvPr/>
        </p:nvSpPr>
        <p:spPr>
          <a:xfrm rot="0">
            <a:off x="523875" y="7560569"/>
            <a:ext cx="17388702" cy="762155"/>
          </a:xfrm>
          <a:prstGeom prst="rect">
            <a:avLst/>
          </a:prstGeom>
        </p:spPr>
        <p:txBody>
          <a:bodyPr anchor="t" rtlCol="false" tIns="0" lIns="0" bIns="0" rIns="0">
            <a:spAutoFit/>
          </a:bodyPr>
          <a:lstStyle/>
          <a:p>
            <a:pPr algn="just">
              <a:lnSpc>
                <a:spcPts val="3121"/>
              </a:lnSpc>
              <a:spcBef>
                <a:spcPct val="0"/>
              </a:spcBef>
            </a:pPr>
            <a:r>
              <a:rPr lang="en-US" b="true" sz="2039">
                <a:solidFill>
                  <a:srgbClr val="000000"/>
                </a:solidFill>
                <a:latin typeface="Montserrat Bold"/>
                <a:ea typeface="Montserrat Bold"/>
                <a:cs typeface="Montserrat Bold"/>
                <a:sym typeface="Montserrat Bold"/>
              </a:rPr>
              <a:t>►</a:t>
            </a:r>
            <a:r>
              <a:rPr lang="en-US" b="true" sz="2039">
                <a:solidFill>
                  <a:srgbClr val="000000"/>
                </a:solidFill>
                <a:latin typeface="Montserrat Bold"/>
                <a:ea typeface="Montserrat Bold"/>
                <a:cs typeface="Montserrat Bold"/>
                <a:sym typeface="Montserrat Bold"/>
              </a:rPr>
              <a:t>LightGBM creates very sharp decision boundaries, which helps minimize the overlap between the two income groups, as reflected by the low number of false positives</a:t>
            </a:r>
          </a:p>
        </p:txBody>
      </p:sp>
      <p:sp>
        <p:nvSpPr>
          <p:cNvPr name="TextBox 8" id="8"/>
          <p:cNvSpPr txBox="true"/>
          <p:nvPr/>
        </p:nvSpPr>
        <p:spPr>
          <a:xfrm rot="0">
            <a:off x="514350" y="8684673"/>
            <a:ext cx="17259300" cy="796101"/>
          </a:xfrm>
          <a:prstGeom prst="rect">
            <a:avLst/>
          </a:prstGeom>
        </p:spPr>
        <p:txBody>
          <a:bodyPr anchor="t" rtlCol="false" tIns="0" lIns="0" bIns="0" rIns="0">
            <a:spAutoFit/>
          </a:bodyPr>
          <a:lstStyle/>
          <a:p>
            <a:pPr algn="just">
              <a:lnSpc>
                <a:spcPts val="3274"/>
              </a:lnSpc>
              <a:spcBef>
                <a:spcPct val="0"/>
              </a:spcBef>
            </a:pPr>
            <a:r>
              <a:rPr lang="en-US" b="true" sz="2139">
                <a:solidFill>
                  <a:srgbClr val="000000"/>
                </a:solidFill>
                <a:latin typeface="Montserrat Bold"/>
                <a:ea typeface="Montserrat Bold"/>
                <a:cs typeface="Montserrat Bold"/>
                <a:sym typeface="Montserrat Bold"/>
              </a:rPr>
              <a:t>►With the h</a:t>
            </a:r>
            <a:r>
              <a:rPr lang="en-US" b="true" sz="2139">
                <a:solidFill>
                  <a:srgbClr val="000000"/>
                </a:solidFill>
                <a:latin typeface="Montserrat Bold"/>
                <a:ea typeface="Montserrat Bold"/>
                <a:cs typeface="Montserrat Bold"/>
                <a:sym typeface="Montserrat Bold"/>
              </a:rPr>
              <a:t>ighest PR curve, LightGBM demonstrates that when it predicts an individual to have an income greater than 50k, the prediction is the most reliable, with the highest likelihood of being correct.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0595" y="1412410"/>
            <a:ext cx="7117614" cy="4368436"/>
          </a:xfrm>
          <a:custGeom>
            <a:avLst/>
            <a:gdLst/>
            <a:ahLst/>
            <a:cxnLst/>
            <a:rect r="r" b="b" t="t" l="l"/>
            <a:pathLst>
              <a:path h="4368436" w="7117614">
                <a:moveTo>
                  <a:pt x="0" y="0"/>
                </a:moveTo>
                <a:lnTo>
                  <a:pt x="7117614" y="0"/>
                </a:lnTo>
                <a:lnTo>
                  <a:pt x="7117614" y="4368436"/>
                </a:lnTo>
                <a:lnTo>
                  <a:pt x="0" y="4368436"/>
                </a:lnTo>
                <a:lnTo>
                  <a:pt x="0" y="0"/>
                </a:lnTo>
                <a:close/>
              </a:path>
            </a:pathLst>
          </a:custGeom>
          <a:blipFill>
            <a:blip r:embed="rId2"/>
            <a:stretch>
              <a:fillRect l="0" t="0" r="0" b="0"/>
            </a:stretch>
          </a:blipFill>
        </p:spPr>
      </p:sp>
      <p:sp>
        <p:nvSpPr>
          <p:cNvPr name="Freeform 3" id="3"/>
          <p:cNvSpPr/>
          <p:nvPr/>
        </p:nvSpPr>
        <p:spPr>
          <a:xfrm flipH="false" flipV="false" rot="0">
            <a:off x="10480432" y="1412410"/>
            <a:ext cx="4983702" cy="4728287"/>
          </a:xfrm>
          <a:custGeom>
            <a:avLst/>
            <a:gdLst/>
            <a:ahLst/>
            <a:cxnLst/>
            <a:rect r="r" b="b" t="t" l="l"/>
            <a:pathLst>
              <a:path h="4728287" w="4983702">
                <a:moveTo>
                  <a:pt x="0" y="0"/>
                </a:moveTo>
                <a:lnTo>
                  <a:pt x="4983702" y="0"/>
                </a:lnTo>
                <a:lnTo>
                  <a:pt x="4983702" y="4728287"/>
                </a:lnTo>
                <a:lnTo>
                  <a:pt x="0" y="4728287"/>
                </a:lnTo>
                <a:lnTo>
                  <a:pt x="0" y="0"/>
                </a:lnTo>
                <a:close/>
              </a:path>
            </a:pathLst>
          </a:custGeom>
          <a:blipFill>
            <a:blip r:embed="rId3"/>
            <a:stretch>
              <a:fillRect l="0" t="0" r="0" b="0"/>
            </a:stretch>
          </a:blipFill>
        </p:spPr>
      </p:sp>
      <p:sp>
        <p:nvSpPr>
          <p:cNvPr name="Freeform 4" id="4"/>
          <p:cNvSpPr/>
          <p:nvPr/>
        </p:nvSpPr>
        <p:spPr>
          <a:xfrm flipH="false" flipV="false" rot="0">
            <a:off x="1028700" y="6140697"/>
            <a:ext cx="5240946" cy="3603150"/>
          </a:xfrm>
          <a:custGeom>
            <a:avLst/>
            <a:gdLst/>
            <a:ahLst/>
            <a:cxnLst/>
            <a:rect r="r" b="b" t="t" l="l"/>
            <a:pathLst>
              <a:path h="3603150" w="5240946">
                <a:moveTo>
                  <a:pt x="0" y="0"/>
                </a:moveTo>
                <a:lnTo>
                  <a:pt x="5240946" y="0"/>
                </a:lnTo>
                <a:lnTo>
                  <a:pt x="5240946" y="3603150"/>
                </a:lnTo>
                <a:lnTo>
                  <a:pt x="0" y="3603150"/>
                </a:lnTo>
                <a:lnTo>
                  <a:pt x="0" y="0"/>
                </a:lnTo>
                <a:close/>
              </a:path>
            </a:pathLst>
          </a:custGeom>
          <a:blipFill>
            <a:blip r:embed="rId4"/>
            <a:stretch>
              <a:fillRect l="0" t="0" r="0" b="0"/>
            </a:stretch>
          </a:blipFill>
        </p:spPr>
      </p:sp>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20</a:t>
            </a:r>
          </a:p>
        </p:txBody>
      </p:sp>
      <p:sp>
        <p:nvSpPr>
          <p:cNvPr name="Freeform 6" id="6"/>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5"/>
            <a:stretch>
              <a:fillRect l="-110303" t="-185295" r="-110303" b="0"/>
            </a:stretch>
          </a:blipFill>
        </p:spPr>
      </p:sp>
      <p:sp>
        <p:nvSpPr>
          <p:cNvPr name="TextBox 7" id="7"/>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SHAP Analysis</a:t>
            </a:r>
          </a:p>
        </p:txBody>
      </p:sp>
      <p:sp>
        <p:nvSpPr>
          <p:cNvPr name="TextBox 8" id="8"/>
          <p:cNvSpPr txBox="true"/>
          <p:nvPr/>
        </p:nvSpPr>
        <p:spPr>
          <a:xfrm rot="0">
            <a:off x="6637861" y="6559797"/>
            <a:ext cx="11354864" cy="3326576"/>
          </a:xfrm>
          <a:prstGeom prst="rect">
            <a:avLst/>
          </a:prstGeom>
        </p:spPr>
        <p:txBody>
          <a:bodyPr anchor="t" rtlCol="false" tIns="0" lIns="0" bIns="0" rIns="0">
            <a:spAutoFit/>
          </a:bodyPr>
          <a:lstStyle/>
          <a:p>
            <a:pPr algn="l" marL="445810" indent="-222905" lvl="1">
              <a:lnSpc>
                <a:spcPts val="2684"/>
              </a:lnSpc>
              <a:buFont typeface="Arial"/>
              <a:buChar char="•"/>
            </a:pPr>
            <a:r>
              <a:rPr lang="en-US" b="true" sz="2064">
                <a:solidFill>
                  <a:srgbClr val="000000"/>
                </a:solidFill>
                <a:latin typeface="Garet Bold"/>
                <a:ea typeface="Garet Bold"/>
                <a:cs typeface="Garet Bold"/>
                <a:sym typeface="Garet Bold"/>
              </a:rPr>
              <a:t>FEATURE IMPACT RANKING:</a:t>
            </a:r>
            <a:r>
              <a:rPr lang="en-US" sz="2064">
                <a:solidFill>
                  <a:srgbClr val="000000"/>
                </a:solidFill>
                <a:latin typeface="Garet"/>
                <a:ea typeface="Garet"/>
                <a:cs typeface="Garet"/>
                <a:sym typeface="Garet"/>
              </a:rPr>
              <a:t> MARRIED_FLAG HAS THE STRONGEST INFLUENCE (~1.14), FOLLOWED BY AGE (~0.80), WHILE EDUCATION-NUM IS MUCH WEAKER (~0.38). AGE OUTWEIGHS BOTH OCCUPATION AND EDUCATION.</a:t>
            </a:r>
          </a:p>
          <a:p>
            <a:pPr algn="l" marL="445810" indent="-222905" lvl="1">
              <a:lnSpc>
                <a:spcPts val="2684"/>
              </a:lnSpc>
              <a:spcBef>
                <a:spcPct val="0"/>
              </a:spcBef>
              <a:buFont typeface="Arial"/>
              <a:buChar char="•"/>
            </a:pPr>
            <a:r>
              <a:rPr lang="en-US" b="true" sz="2064">
                <a:solidFill>
                  <a:srgbClr val="000000"/>
                </a:solidFill>
                <a:latin typeface="Garet Bold"/>
                <a:ea typeface="Garet Bold"/>
                <a:cs typeface="Garet Bold"/>
                <a:sym typeface="Garet Bold"/>
              </a:rPr>
              <a:t>NON-LINEAR EFFECTS &amp; INTERACTIONS:</a:t>
            </a:r>
            <a:r>
              <a:rPr lang="en-US" sz="2064">
                <a:solidFill>
                  <a:srgbClr val="000000"/>
                </a:solidFill>
                <a:latin typeface="Garet"/>
                <a:ea typeface="Garet"/>
                <a:cs typeface="Garet"/>
                <a:sym typeface="Garet"/>
              </a:rPr>
              <a:t> AGE SHOWS AN INVERTED-U PATTERN (YOUNG: SHAP ≈ -4, PEAKS AT MIDDLE AGE, THEN DECLINES); MARRIED_FLAG CONSISTENTLY BOOSTS PREDICTIONS; STRONG INTERACTION WITH HOURS-PER-WEEK.</a:t>
            </a:r>
          </a:p>
          <a:p>
            <a:pPr algn="l" marL="445810" indent="-222905" lvl="1">
              <a:lnSpc>
                <a:spcPts val="2684"/>
              </a:lnSpc>
              <a:spcBef>
                <a:spcPct val="0"/>
              </a:spcBef>
              <a:buFont typeface="Arial"/>
              <a:buChar char="•"/>
            </a:pPr>
            <a:r>
              <a:rPr lang="en-US" b="true" sz="2064">
                <a:solidFill>
                  <a:srgbClr val="000000"/>
                </a:solidFill>
                <a:latin typeface="Garet Bold"/>
                <a:ea typeface="Garet Bold"/>
                <a:cs typeface="Garet Bold"/>
                <a:sym typeface="Garet Bold"/>
              </a:rPr>
              <a:t>CORE INSIGHT:</a:t>
            </a:r>
            <a:r>
              <a:rPr lang="en-US" sz="2064">
                <a:solidFill>
                  <a:srgbClr val="000000"/>
                </a:solidFill>
                <a:latin typeface="Garet"/>
                <a:ea typeface="Garet"/>
                <a:cs typeface="Garet"/>
                <a:sym typeface="Garet"/>
              </a:rPr>
              <a:t> THE MODEL DOES NOT LEARN TRUE “ABILITY” BUT LARGELY REFLECTS REAL-WORLD INCOME DISTRIBUTION, WITH AGE AND MARITAL STATUS AS THE DOMINANT FACTORS.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4948" y="1278343"/>
            <a:ext cx="6268716" cy="4106009"/>
          </a:xfrm>
          <a:custGeom>
            <a:avLst/>
            <a:gdLst/>
            <a:ahLst/>
            <a:cxnLst/>
            <a:rect r="r" b="b" t="t" l="l"/>
            <a:pathLst>
              <a:path h="4106009" w="6268716">
                <a:moveTo>
                  <a:pt x="0" y="0"/>
                </a:moveTo>
                <a:lnTo>
                  <a:pt x="6268715" y="0"/>
                </a:lnTo>
                <a:lnTo>
                  <a:pt x="6268715" y="4106009"/>
                </a:lnTo>
                <a:lnTo>
                  <a:pt x="0" y="4106009"/>
                </a:lnTo>
                <a:lnTo>
                  <a:pt x="0" y="0"/>
                </a:lnTo>
                <a:close/>
              </a:path>
            </a:pathLst>
          </a:custGeom>
          <a:blipFill>
            <a:blip r:embed="rId2"/>
            <a:stretch>
              <a:fillRect l="0" t="0" r="0" b="0"/>
            </a:stretch>
          </a:blipFill>
        </p:spPr>
      </p:sp>
      <p:sp>
        <p:nvSpPr>
          <p:cNvPr name="Freeform 3" id="3"/>
          <p:cNvSpPr/>
          <p:nvPr/>
        </p:nvSpPr>
        <p:spPr>
          <a:xfrm flipH="false" flipV="false" rot="0">
            <a:off x="8815711" y="1216709"/>
            <a:ext cx="5893870" cy="3926791"/>
          </a:xfrm>
          <a:custGeom>
            <a:avLst/>
            <a:gdLst/>
            <a:ahLst/>
            <a:cxnLst/>
            <a:rect r="r" b="b" t="t" l="l"/>
            <a:pathLst>
              <a:path h="3926791" w="5893870">
                <a:moveTo>
                  <a:pt x="0" y="0"/>
                </a:moveTo>
                <a:lnTo>
                  <a:pt x="5893870" y="0"/>
                </a:lnTo>
                <a:lnTo>
                  <a:pt x="5893870" y="3926791"/>
                </a:lnTo>
                <a:lnTo>
                  <a:pt x="0" y="3926791"/>
                </a:lnTo>
                <a:lnTo>
                  <a:pt x="0" y="0"/>
                </a:lnTo>
                <a:close/>
              </a:path>
            </a:pathLst>
          </a:custGeom>
          <a:blipFill>
            <a:blip r:embed="rId3"/>
            <a:stretch>
              <a:fillRect l="0" t="0" r="0" b="0"/>
            </a:stretch>
          </a:blipFill>
        </p:spPr>
      </p:sp>
      <p:sp>
        <p:nvSpPr>
          <p:cNvPr name="Freeform 4" id="4"/>
          <p:cNvSpPr/>
          <p:nvPr/>
        </p:nvSpPr>
        <p:spPr>
          <a:xfrm flipH="false" flipV="false" rot="0">
            <a:off x="-520811" y="5870127"/>
            <a:ext cx="10913881" cy="4110833"/>
          </a:xfrm>
          <a:custGeom>
            <a:avLst/>
            <a:gdLst/>
            <a:ahLst/>
            <a:cxnLst/>
            <a:rect r="r" b="b" t="t" l="l"/>
            <a:pathLst>
              <a:path h="4110833" w="10913881">
                <a:moveTo>
                  <a:pt x="0" y="0"/>
                </a:moveTo>
                <a:lnTo>
                  <a:pt x="10913881" y="0"/>
                </a:lnTo>
                <a:lnTo>
                  <a:pt x="10913881" y="4110833"/>
                </a:lnTo>
                <a:lnTo>
                  <a:pt x="0" y="4110833"/>
                </a:lnTo>
                <a:lnTo>
                  <a:pt x="0" y="0"/>
                </a:lnTo>
                <a:close/>
              </a:path>
            </a:pathLst>
          </a:custGeom>
          <a:blipFill>
            <a:blip r:embed="rId4"/>
            <a:stretch>
              <a:fillRect l="0" t="0" r="-3549" b="0"/>
            </a:stretch>
          </a:blipFill>
        </p:spPr>
      </p:sp>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21</a:t>
            </a:r>
          </a:p>
        </p:txBody>
      </p:sp>
      <p:sp>
        <p:nvSpPr>
          <p:cNvPr name="Freeform 6" id="6"/>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5"/>
            <a:stretch>
              <a:fillRect l="-110303" t="-185295" r="-110303" b="0"/>
            </a:stretch>
          </a:blipFill>
        </p:spPr>
      </p:sp>
      <p:sp>
        <p:nvSpPr>
          <p:cNvPr name="TextBox 7" id="7"/>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Fairness Explaination</a:t>
            </a:r>
          </a:p>
        </p:txBody>
      </p:sp>
      <p:sp>
        <p:nvSpPr>
          <p:cNvPr name="TextBox 8" id="8"/>
          <p:cNvSpPr txBox="true"/>
          <p:nvPr/>
        </p:nvSpPr>
        <p:spPr>
          <a:xfrm rot="0">
            <a:off x="10912489" y="5410200"/>
            <a:ext cx="7375511" cy="4334459"/>
          </a:xfrm>
          <a:prstGeom prst="rect">
            <a:avLst/>
          </a:prstGeom>
        </p:spPr>
        <p:txBody>
          <a:bodyPr anchor="t" rtlCol="false" tIns="0" lIns="0" bIns="0" rIns="0">
            <a:spAutoFit/>
          </a:bodyPr>
          <a:lstStyle/>
          <a:p>
            <a:pPr algn="l" marL="475843" indent="-237921" lvl="1">
              <a:lnSpc>
                <a:spcPts val="2865"/>
              </a:lnSpc>
              <a:spcBef>
                <a:spcPct val="0"/>
              </a:spcBef>
              <a:buFont typeface="Arial"/>
              <a:buChar char="•"/>
            </a:pPr>
            <a:r>
              <a:rPr lang="en-US" sz="2203">
                <a:solidFill>
                  <a:srgbClr val="000000"/>
                </a:solidFill>
                <a:latin typeface="Garet"/>
                <a:ea typeface="Garet"/>
                <a:cs typeface="Garet"/>
                <a:sym typeface="Garet"/>
              </a:rPr>
              <a:t>Fairness analysis shows strong bias across gender and race (high DPD, DPR ~0.27, EOD above threshold).</a:t>
            </a:r>
          </a:p>
          <a:p>
            <a:pPr algn="l">
              <a:lnSpc>
                <a:spcPts val="2865"/>
              </a:lnSpc>
              <a:spcBef>
                <a:spcPct val="0"/>
              </a:spcBef>
            </a:pPr>
          </a:p>
          <a:p>
            <a:pPr algn="l" marL="475843" indent="-237921" lvl="1">
              <a:lnSpc>
                <a:spcPts val="2865"/>
              </a:lnSpc>
              <a:spcBef>
                <a:spcPct val="0"/>
              </a:spcBef>
              <a:buFont typeface="Arial"/>
              <a:buChar char="•"/>
            </a:pPr>
            <a:r>
              <a:rPr lang="en-US" sz="2203">
                <a:solidFill>
                  <a:srgbClr val="000000"/>
                </a:solidFill>
                <a:latin typeface="Garet"/>
                <a:ea typeface="Garet"/>
                <a:cs typeface="Garet"/>
                <a:sym typeface="Garet"/>
              </a:rPr>
              <a:t>However, SHAP indicates sensitive features have low direct impact → the model learns bias through proxy variables (e.g., married_flag, occupation_group, relationship).</a:t>
            </a:r>
          </a:p>
          <a:p>
            <a:pPr algn="l">
              <a:lnSpc>
                <a:spcPts val="2865"/>
              </a:lnSpc>
              <a:spcBef>
                <a:spcPct val="0"/>
              </a:spcBef>
            </a:pPr>
          </a:p>
          <a:p>
            <a:pPr algn="l" marL="475843" indent="-237921" lvl="1">
              <a:lnSpc>
                <a:spcPts val="2865"/>
              </a:lnSpc>
              <a:spcBef>
                <a:spcPct val="0"/>
              </a:spcBef>
              <a:buFont typeface="Arial"/>
              <a:buChar char="•"/>
            </a:pPr>
            <a:r>
              <a:rPr lang="en-US" sz="2203">
                <a:solidFill>
                  <a:srgbClr val="000000"/>
                </a:solidFill>
                <a:latin typeface="Garet"/>
                <a:ea typeface="Garet"/>
                <a:cs typeface="Garet"/>
                <a:sym typeface="Garet"/>
              </a:rPr>
              <a:t>The model not only reflects historical inequality but reinforces it—bias is embedded in the data structure, not just sensitive features.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9546" y="6136741"/>
            <a:ext cx="6752874" cy="3798491"/>
          </a:xfrm>
          <a:custGeom>
            <a:avLst/>
            <a:gdLst/>
            <a:ahLst/>
            <a:cxnLst/>
            <a:rect r="r" b="b" t="t" l="l"/>
            <a:pathLst>
              <a:path h="3798491" w="6752874">
                <a:moveTo>
                  <a:pt x="0" y="0"/>
                </a:moveTo>
                <a:lnTo>
                  <a:pt x="6752874" y="0"/>
                </a:lnTo>
                <a:lnTo>
                  <a:pt x="6752874" y="3798492"/>
                </a:lnTo>
                <a:lnTo>
                  <a:pt x="0" y="3798492"/>
                </a:lnTo>
                <a:lnTo>
                  <a:pt x="0" y="0"/>
                </a:lnTo>
                <a:close/>
              </a:path>
            </a:pathLst>
          </a:custGeom>
          <a:blipFill>
            <a:blip r:embed="rId2"/>
            <a:stretch>
              <a:fillRect l="0" t="0" r="0" b="0"/>
            </a:stretch>
          </a:blipFill>
        </p:spPr>
      </p:sp>
      <p:sp>
        <p:nvSpPr>
          <p:cNvPr name="Freeform 3" id="3"/>
          <p:cNvSpPr/>
          <p:nvPr/>
        </p:nvSpPr>
        <p:spPr>
          <a:xfrm flipH="false" flipV="false" rot="0">
            <a:off x="0" y="1094960"/>
            <a:ext cx="13247019" cy="4917956"/>
          </a:xfrm>
          <a:custGeom>
            <a:avLst/>
            <a:gdLst/>
            <a:ahLst/>
            <a:cxnLst/>
            <a:rect r="r" b="b" t="t" l="l"/>
            <a:pathLst>
              <a:path h="4917956" w="13247019">
                <a:moveTo>
                  <a:pt x="0" y="0"/>
                </a:moveTo>
                <a:lnTo>
                  <a:pt x="13247019" y="0"/>
                </a:lnTo>
                <a:lnTo>
                  <a:pt x="13247019" y="4917956"/>
                </a:lnTo>
                <a:lnTo>
                  <a:pt x="0" y="4917956"/>
                </a:lnTo>
                <a:lnTo>
                  <a:pt x="0" y="0"/>
                </a:lnTo>
                <a:close/>
              </a:path>
            </a:pathLst>
          </a:custGeom>
          <a:blipFill>
            <a:blip r:embed="rId3"/>
            <a:stretch>
              <a:fillRect l="0" t="0" r="0" b="0"/>
            </a:stretch>
          </a:blipFill>
        </p:spPr>
      </p:sp>
      <p:sp>
        <p:nvSpPr>
          <p:cNvPr name="TextBox 4" id="4"/>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22</a:t>
            </a:r>
          </a:p>
        </p:txBody>
      </p:sp>
      <p:sp>
        <p:nvSpPr>
          <p:cNvPr name="Freeform 5" id="5"/>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4"/>
            <a:stretch>
              <a:fillRect l="-110303" t="-185295" r="-110303" b="0"/>
            </a:stretch>
          </a:blipFill>
        </p:spPr>
      </p:sp>
      <p:sp>
        <p:nvSpPr>
          <p:cNvPr name="TextBox 6" id="6"/>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LIME Analysis</a:t>
            </a:r>
          </a:p>
        </p:txBody>
      </p:sp>
      <p:sp>
        <p:nvSpPr>
          <p:cNvPr name="TextBox 7" id="7"/>
          <p:cNvSpPr txBox="true"/>
          <p:nvPr/>
        </p:nvSpPr>
        <p:spPr>
          <a:xfrm rot="0">
            <a:off x="7842839" y="6422883"/>
            <a:ext cx="10093024" cy="3197633"/>
          </a:xfrm>
          <a:prstGeom prst="rect">
            <a:avLst/>
          </a:prstGeom>
        </p:spPr>
        <p:txBody>
          <a:bodyPr anchor="t" rtlCol="false" tIns="0" lIns="0" bIns="0" rIns="0">
            <a:spAutoFit/>
          </a:bodyPr>
          <a:lstStyle/>
          <a:p>
            <a:pPr algn="l" marL="532817" indent="-266409" lvl="1">
              <a:lnSpc>
                <a:spcPts val="3208"/>
              </a:lnSpc>
              <a:spcBef>
                <a:spcPct val="0"/>
              </a:spcBef>
              <a:buFont typeface="Arial"/>
              <a:buChar char="•"/>
            </a:pPr>
            <a:r>
              <a:rPr lang="en-US" sz="2467">
                <a:solidFill>
                  <a:srgbClr val="000000"/>
                </a:solidFill>
                <a:latin typeface="Garet"/>
                <a:ea typeface="Garet"/>
                <a:cs typeface="Garet"/>
                <a:sym typeface="Garet"/>
              </a:rPr>
              <a:t>LIME shows a trade-off between positive and negative factors: married_flag (+0.94) and age (+0.54) push predictions up, while workclass (-0.73), education-num (-0.46), and capital-gain (-0.36) pull them down.</a:t>
            </a:r>
          </a:p>
          <a:p>
            <a:pPr algn="l" marL="532817" indent="-266409" lvl="1">
              <a:lnSpc>
                <a:spcPts val="3208"/>
              </a:lnSpc>
              <a:spcBef>
                <a:spcPct val="0"/>
              </a:spcBef>
              <a:buFont typeface="Arial"/>
              <a:buChar char="•"/>
            </a:pPr>
            <a:r>
              <a:rPr lang="en-US" sz="2467">
                <a:solidFill>
                  <a:srgbClr val="000000"/>
                </a:solidFill>
                <a:latin typeface="Garet"/>
                <a:ea typeface="Garet"/>
                <a:cs typeface="Garet"/>
                <a:sym typeface="Garet"/>
              </a:rPr>
              <a:t>This indicates the model prioritizes age and social structure over education.</a:t>
            </a:r>
          </a:p>
          <a:p>
            <a:pPr algn="l" marL="532817" indent="-266409" lvl="1">
              <a:lnSpc>
                <a:spcPts val="3208"/>
              </a:lnSpc>
              <a:spcBef>
                <a:spcPct val="0"/>
              </a:spcBef>
              <a:buFont typeface="Arial"/>
              <a:buChar char="•"/>
            </a:pPr>
            <a:r>
              <a:rPr lang="en-US" sz="2467">
                <a:solidFill>
                  <a:srgbClr val="000000"/>
                </a:solidFill>
                <a:latin typeface="Garet"/>
                <a:ea typeface="Garet"/>
                <a:cs typeface="Garet"/>
                <a:sym typeface="Garet"/>
              </a:rPr>
              <a:t>DiCE reveals that a small increase in age (from -0.35 to ~ -0.30) can flip the outcome → a sharp decision threshold.</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6664631" cy="4373664"/>
          </a:xfrm>
          <a:custGeom>
            <a:avLst/>
            <a:gdLst/>
            <a:ahLst/>
            <a:cxnLst/>
            <a:rect r="r" b="b" t="t" l="l"/>
            <a:pathLst>
              <a:path h="4373664" w="6664631">
                <a:moveTo>
                  <a:pt x="0" y="0"/>
                </a:moveTo>
                <a:lnTo>
                  <a:pt x="6664631" y="0"/>
                </a:lnTo>
                <a:lnTo>
                  <a:pt x="6664631" y="4373664"/>
                </a:lnTo>
                <a:lnTo>
                  <a:pt x="0" y="4373664"/>
                </a:lnTo>
                <a:lnTo>
                  <a:pt x="0" y="0"/>
                </a:lnTo>
                <a:close/>
              </a:path>
            </a:pathLst>
          </a:custGeom>
          <a:blipFill>
            <a:blip r:embed="rId2"/>
            <a:stretch>
              <a:fillRect l="0" t="0" r="0" b="0"/>
            </a:stretch>
          </a:blipFill>
        </p:spPr>
      </p:sp>
      <p:sp>
        <p:nvSpPr>
          <p:cNvPr name="Freeform 3" id="3"/>
          <p:cNvSpPr/>
          <p:nvPr/>
        </p:nvSpPr>
        <p:spPr>
          <a:xfrm flipH="false" flipV="false" rot="0">
            <a:off x="9677017" y="1152110"/>
            <a:ext cx="6698667" cy="4412747"/>
          </a:xfrm>
          <a:custGeom>
            <a:avLst/>
            <a:gdLst/>
            <a:ahLst/>
            <a:cxnLst/>
            <a:rect r="r" b="b" t="t" l="l"/>
            <a:pathLst>
              <a:path h="4412747" w="6698667">
                <a:moveTo>
                  <a:pt x="0" y="0"/>
                </a:moveTo>
                <a:lnTo>
                  <a:pt x="6698668" y="0"/>
                </a:lnTo>
                <a:lnTo>
                  <a:pt x="6698668" y="4412747"/>
                </a:lnTo>
                <a:lnTo>
                  <a:pt x="0" y="4412747"/>
                </a:lnTo>
                <a:lnTo>
                  <a:pt x="0" y="0"/>
                </a:lnTo>
                <a:close/>
              </a:path>
            </a:pathLst>
          </a:custGeom>
          <a:blipFill>
            <a:blip r:embed="rId3"/>
            <a:stretch>
              <a:fillRect l="0" t="0" r="0" b="0"/>
            </a:stretch>
          </a:blipFill>
        </p:spPr>
      </p:sp>
      <p:sp>
        <p:nvSpPr>
          <p:cNvPr name="Freeform 4" id="4"/>
          <p:cNvSpPr/>
          <p:nvPr/>
        </p:nvSpPr>
        <p:spPr>
          <a:xfrm flipH="false" flipV="false" rot="0">
            <a:off x="1530174" y="5962065"/>
            <a:ext cx="5661683" cy="3722557"/>
          </a:xfrm>
          <a:custGeom>
            <a:avLst/>
            <a:gdLst/>
            <a:ahLst/>
            <a:cxnLst/>
            <a:rect r="r" b="b" t="t" l="l"/>
            <a:pathLst>
              <a:path h="3722557" w="5661683">
                <a:moveTo>
                  <a:pt x="0" y="0"/>
                </a:moveTo>
                <a:lnTo>
                  <a:pt x="5661683" y="0"/>
                </a:lnTo>
                <a:lnTo>
                  <a:pt x="5661683" y="3722556"/>
                </a:lnTo>
                <a:lnTo>
                  <a:pt x="0" y="3722556"/>
                </a:lnTo>
                <a:lnTo>
                  <a:pt x="0" y="0"/>
                </a:lnTo>
                <a:close/>
              </a:path>
            </a:pathLst>
          </a:custGeom>
          <a:blipFill>
            <a:blip r:embed="rId4"/>
            <a:stretch>
              <a:fillRect l="0" t="0" r="0" b="0"/>
            </a:stretch>
          </a:blipFill>
        </p:spPr>
      </p:sp>
      <p:sp>
        <p:nvSpPr>
          <p:cNvPr name="TextBox 5" id="5"/>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23</a:t>
            </a:r>
          </a:p>
        </p:txBody>
      </p:sp>
      <p:sp>
        <p:nvSpPr>
          <p:cNvPr name="Freeform 6" id="6"/>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5"/>
            <a:stretch>
              <a:fillRect l="-110303" t="-185295" r="-110303" b="0"/>
            </a:stretch>
          </a:blipFill>
        </p:spPr>
      </p:sp>
      <p:sp>
        <p:nvSpPr>
          <p:cNvPr name="TextBox 7" id="7"/>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Fairness Explaination</a:t>
            </a:r>
          </a:p>
        </p:txBody>
      </p:sp>
      <p:sp>
        <p:nvSpPr>
          <p:cNvPr name="TextBox 8" id="8"/>
          <p:cNvSpPr txBox="true"/>
          <p:nvPr/>
        </p:nvSpPr>
        <p:spPr>
          <a:xfrm rot="0">
            <a:off x="7378048" y="6311090"/>
            <a:ext cx="10909952" cy="2995930"/>
          </a:xfrm>
          <a:prstGeom prst="rect">
            <a:avLst/>
          </a:prstGeom>
        </p:spPr>
        <p:txBody>
          <a:bodyPr anchor="t" rtlCol="false" tIns="0" lIns="0" bIns="0" rIns="0">
            <a:spAutoFit/>
          </a:bodyPr>
          <a:lstStyle/>
          <a:p>
            <a:pPr algn="l" marL="561334" indent="-280667" lvl="1">
              <a:lnSpc>
                <a:spcPts val="3379"/>
              </a:lnSpc>
              <a:spcBef>
                <a:spcPct val="0"/>
              </a:spcBef>
              <a:buFont typeface="Arial"/>
              <a:buChar char="•"/>
            </a:pPr>
            <a:r>
              <a:rPr lang="en-US" sz="2599">
                <a:solidFill>
                  <a:srgbClr val="000000"/>
                </a:solidFill>
                <a:latin typeface="Garet"/>
                <a:ea typeface="Garet"/>
                <a:cs typeface="Garet"/>
                <a:sym typeface="Garet"/>
              </a:rPr>
              <a:t>EVEN AFTER CONTROLLING FOR EDUCATION AND WORKING HOURS, BIAS STILL PERSISTS:</a:t>
            </a:r>
          </a:p>
          <a:p>
            <a:pPr algn="l">
              <a:lnSpc>
                <a:spcPts val="3379"/>
              </a:lnSpc>
              <a:spcBef>
                <a:spcPct val="0"/>
              </a:spcBef>
            </a:pPr>
            <a:r>
              <a:rPr lang="en-US" sz="2599">
                <a:solidFill>
                  <a:srgbClr val="000000"/>
                </a:solidFill>
                <a:latin typeface="Garet"/>
                <a:ea typeface="Garet"/>
                <a:cs typeface="Garet"/>
                <a:sym typeface="Garet"/>
              </a:rPr>
              <a:t>+ </a:t>
            </a:r>
            <a:r>
              <a:rPr lang="en-US" sz="2599">
                <a:solidFill>
                  <a:srgbClr val="000000"/>
                </a:solidFill>
                <a:latin typeface="Garet"/>
                <a:ea typeface="Garet"/>
                <a:cs typeface="Garet"/>
                <a:sym typeface="Garet"/>
              </a:rPr>
              <a:t>Gender: same education/hours → one group gets negative SHAP, the other positive</a:t>
            </a:r>
          </a:p>
          <a:p>
            <a:pPr algn="l">
              <a:lnSpc>
                <a:spcPts val="3379"/>
              </a:lnSpc>
              <a:spcBef>
                <a:spcPct val="0"/>
              </a:spcBef>
            </a:pPr>
            <a:r>
              <a:rPr lang="en-US" sz="2599">
                <a:solidFill>
                  <a:srgbClr val="000000"/>
                </a:solidFill>
                <a:latin typeface="Garet"/>
                <a:ea typeface="Garet"/>
                <a:cs typeface="Garet"/>
                <a:sym typeface="Garet"/>
              </a:rPr>
              <a:t>+ </a:t>
            </a:r>
            <a:r>
              <a:rPr lang="en-US" sz="2599">
                <a:solidFill>
                  <a:srgbClr val="000000"/>
                </a:solidFill>
                <a:latin typeface="Garet"/>
                <a:ea typeface="Garet"/>
                <a:cs typeface="Garet"/>
                <a:sym typeface="Garet"/>
              </a:rPr>
              <a:t>RACE: SAME EDUCATION → WHITE GROUP STILL HAS HIGHER SHAP</a:t>
            </a:r>
          </a:p>
          <a:p>
            <a:pPr algn="l">
              <a:lnSpc>
                <a:spcPts val="3379"/>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4948" y="355777"/>
            <a:ext cx="9752636"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Contentlist</a:t>
            </a:r>
          </a:p>
        </p:txBody>
      </p:sp>
      <p:sp>
        <p:nvSpPr>
          <p:cNvPr name="Freeform 3" id="3"/>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4" id="4"/>
          <p:cNvSpPr txBox="true"/>
          <p:nvPr/>
        </p:nvSpPr>
        <p:spPr>
          <a:xfrm rot="0">
            <a:off x="2162531" y="2163685"/>
            <a:ext cx="12079308" cy="5570407"/>
          </a:xfrm>
          <a:prstGeom prst="rect">
            <a:avLst/>
          </a:prstGeom>
        </p:spPr>
        <p:txBody>
          <a:bodyPr anchor="t" rtlCol="false" tIns="0" lIns="0" bIns="0" rIns="0">
            <a:spAutoFit/>
          </a:bodyPr>
          <a:lstStyle/>
          <a:p>
            <a:pPr algn="l">
              <a:lnSpc>
                <a:spcPts val="6373"/>
              </a:lnSpc>
            </a:pPr>
            <a:r>
              <a:rPr lang="en-US" sz="4552">
                <a:solidFill>
                  <a:srgbClr val="000000"/>
                </a:solidFill>
                <a:latin typeface="Calistoga"/>
                <a:ea typeface="Calistoga"/>
                <a:cs typeface="Calistoga"/>
                <a:sym typeface="Calistoga"/>
              </a:rPr>
              <a:t>1. Introduction &amp; Goal of Study</a:t>
            </a:r>
          </a:p>
          <a:p>
            <a:pPr algn="l">
              <a:lnSpc>
                <a:spcPts val="6373"/>
              </a:lnSpc>
            </a:pPr>
            <a:r>
              <a:rPr lang="en-US" sz="4552">
                <a:solidFill>
                  <a:srgbClr val="000000"/>
                </a:solidFill>
                <a:latin typeface="Calistoga"/>
                <a:ea typeface="Calistoga"/>
                <a:cs typeface="Calistoga"/>
                <a:sym typeface="Calistoga"/>
              </a:rPr>
              <a:t>2. </a:t>
            </a:r>
            <a:r>
              <a:rPr lang="en-US" sz="4552">
                <a:solidFill>
                  <a:srgbClr val="000000"/>
                </a:solidFill>
                <a:latin typeface="Calistoga"/>
                <a:ea typeface="Calistoga"/>
                <a:cs typeface="Calistoga"/>
                <a:sym typeface="Calistoga"/>
              </a:rPr>
              <a:t>Data Description</a:t>
            </a:r>
          </a:p>
          <a:p>
            <a:pPr algn="l">
              <a:lnSpc>
                <a:spcPts val="6373"/>
              </a:lnSpc>
            </a:pPr>
            <a:r>
              <a:rPr lang="en-US" sz="4552">
                <a:solidFill>
                  <a:srgbClr val="000000"/>
                </a:solidFill>
                <a:latin typeface="Calistoga"/>
                <a:ea typeface="Calistoga"/>
                <a:cs typeface="Calistoga"/>
                <a:sym typeface="Calistoga"/>
              </a:rPr>
              <a:t>3. EDA</a:t>
            </a:r>
          </a:p>
          <a:p>
            <a:pPr algn="l">
              <a:lnSpc>
                <a:spcPts val="6373"/>
              </a:lnSpc>
            </a:pPr>
            <a:r>
              <a:rPr lang="en-US" sz="4552">
                <a:solidFill>
                  <a:srgbClr val="000000"/>
                </a:solidFill>
                <a:latin typeface="Calistoga"/>
                <a:ea typeface="Calistoga"/>
                <a:cs typeface="Calistoga"/>
                <a:sym typeface="Calistoga"/>
              </a:rPr>
              <a:t>4. Feature Engineering</a:t>
            </a:r>
          </a:p>
          <a:p>
            <a:pPr algn="l">
              <a:lnSpc>
                <a:spcPts val="6373"/>
              </a:lnSpc>
            </a:pPr>
            <a:r>
              <a:rPr lang="en-US" sz="4552">
                <a:solidFill>
                  <a:srgbClr val="000000"/>
                </a:solidFill>
                <a:latin typeface="Calistoga"/>
                <a:ea typeface="Calistoga"/>
                <a:cs typeface="Calistoga"/>
                <a:sym typeface="Calistoga"/>
              </a:rPr>
              <a:t>5. Model Building</a:t>
            </a:r>
          </a:p>
          <a:p>
            <a:pPr algn="l">
              <a:lnSpc>
                <a:spcPts val="6373"/>
              </a:lnSpc>
            </a:pPr>
            <a:r>
              <a:rPr lang="en-US" sz="4552">
                <a:solidFill>
                  <a:srgbClr val="000000"/>
                </a:solidFill>
                <a:latin typeface="Calistoga"/>
                <a:ea typeface="Calistoga"/>
                <a:cs typeface="Calistoga"/>
                <a:sym typeface="Calistoga"/>
              </a:rPr>
              <a:t>6. Results</a:t>
            </a:r>
          </a:p>
          <a:p>
            <a:pPr algn="l">
              <a:lnSpc>
                <a:spcPts val="6373"/>
              </a:lnSpc>
            </a:pPr>
            <a:r>
              <a:rPr lang="en-US" sz="4552">
                <a:solidFill>
                  <a:srgbClr val="E41515"/>
                </a:solidFill>
                <a:latin typeface="Calistoga"/>
                <a:ea typeface="Calistoga"/>
                <a:cs typeface="Calistoga"/>
                <a:sym typeface="Calistoga"/>
              </a:rPr>
              <a:t>7. Conclusion</a:t>
            </a:r>
          </a:p>
        </p:txBody>
      </p:sp>
      <p:sp>
        <p:nvSpPr>
          <p:cNvPr name="Freeform 5" id="5"/>
          <p:cNvSpPr/>
          <p:nvPr/>
        </p:nvSpPr>
        <p:spPr>
          <a:xfrm flipH="false" flipV="false" rot="0">
            <a:off x="463279" y="9383785"/>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505444" y="241477"/>
            <a:ext cx="3366096" cy="502286"/>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2B2B2B"/>
                </a:solidFill>
                <a:latin typeface="Garet Bold"/>
                <a:ea typeface="Garet Bold"/>
                <a:cs typeface="Garet Bold"/>
                <a:sym typeface="Garet Bold"/>
              </a:rPr>
              <a:t>24</a:t>
            </a:r>
          </a:p>
        </p:txBody>
      </p:sp>
      <p:sp>
        <p:nvSpPr>
          <p:cNvPr name="TextBox 3" id="3"/>
          <p:cNvSpPr txBox="true"/>
          <p:nvPr/>
        </p:nvSpPr>
        <p:spPr>
          <a:xfrm rot="0">
            <a:off x="384948" y="355777"/>
            <a:ext cx="14915784" cy="614816"/>
          </a:xfrm>
          <a:prstGeom prst="rect">
            <a:avLst/>
          </a:prstGeom>
        </p:spPr>
        <p:txBody>
          <a:bodyPr anchor="t" rtlCol="false" tIns="0" lIns="0" bIns="0" rIns="0">
            <a:spAutoFit/>
          </a:bodyPr>
          <a:lstStyle/>
          <a:p>
            <a:pPr algn="l" marL="0" indent="0" lvl="0">
              <a:lnSpc>
                <a:spcPts val="4708"/>
              </a:lnSpc>
              <a:spcBef>
                <a:spcPct val="0"/>
              </a:spcBef>
            </a:pPr>
            <a:r>
              <a:rPr lang="en-US" sz="4708" spc="-371">
                <a:solidFill>
                  <a:srgbClr val="000000"/>
                </a:solidFill>
                <a:latin typeface="Calistoga"/>
                <a:ea typeface="Calistoga"/>
                <a:cs typeface="Calistoga"/>
                <a:sym typeface="Calistoga"/>
              </a:rPr>
              <a:t>Conclusion</a:t>
            </a:r>
          </a:p>
        </p:txBody>
      </p:sp>
      <p:sp>
        <p:nvSpPr>
          <p:cNvPr name="Freeform 4" id="4"/>
          <p:cNvSpPr/>
          <p:nvPr/>
        </p:nvSpPr>
        <p:spPr>
          <a:xfrm flipH="false" flipV="false" rot="0">
            <a:off x="463279" y="1028700"/>
            <a:ext cx="15723385" cy="66260"/>
          </a:xfrm>
          <a:custGeom>
            <a:avLst/>
            <a:gdLst/>
            <a:ahLst/>
            <a:cxnLst/>
            <a:rect r="r" b="b" t="t" l="l"/>
            <a:pathLst>
              <a:path h="66260" w="15723385">
                <a:moveTo>
                  <a:pt x="0" y="0"/>
                </a:moveTo>
                <a:lnTo>
                  <a:pt x="15723385" y="0"/>
                </a:lnTo>
                <a:lnTo>
                  <a:pt x="15723385" y="66260"/>
                </a:lnTo>
                <a:lnTo>
                  <a:pt x="0" y="66260"/>
                </a:lnTo>
                <a:lnTo>
                  <a:pt x="0" y="0"/>
                </a:lnTo>
                <a:close/>
              </a:path>
            </a:pathLst>
          </a:custGeom>
          <a:blipFill>
            <a:blip r:embed="rId2"/>
            <a:stretch>
              <a:fillRect l="-110303" t="-185295" r="-110303" b="0"/>
            </a:stretch>
          </a:blipFill>
        </p:spPr>
      </p:sp>
      <p:sp>
        <p:nvSpPr>
          <p:cNvPr name="TextBox 5" id="5"/>
          <p:cNvSpPr txBox="true"/>
          <p:nvPr/>
        </p:nvSpPr>
        <p:spPr>
          <a:xfrm rot="0">
            <a:off x="1028700" y="2141461"/>
            <a:ext cx="15442118" cy="7538720"/>
          </a:xfrm>
          <a:prstGeom prst="rect">
            <a:avLst/>
          </a:prstGeom>
        </p:spPr>
        <p:txBody>
          <a:bodyPr anchor="t" rtlCol="false" tIns="0" lIns="0" bIns="0" rIns="0">
            <a:spAutoFit/>
          </a:bodyPr>
          <a:lstStyle/>
          <a:p>
            <a:pPr algn="just" marL="626104" indent="-313052" lvl="1">
              <a:lnSpc>
                <a:spcPts val="4059"/>
              </a:lnSpc>
              <a:buFont typeface="Arial"/>
              <a:buChar char="•"/>
            </a:pPr>
            <a:r>
              <a:rPr lang="en-US" sz="2899">
                <a:solidFill>
                  <a:srgbClr val="000000"/>
                </a:solidFill>
                <a:latin typeface="Garet"/>
                <a:ea typeface="Garet"/>
                <a:cs typeface="Garet"/>
                <a:sym typeface="Garet"/>
              </a:rPr>
              <a:t>The analysis shows that the model does not purely learn individual capability, but mainly captures the social structure of income distribution. Factors like age, marital status, and occupation have stronger influence than education.</a:t>
            </a:r>
          </a:p>
          <a:p>
            <a:pPr algn="just" marL="626104" indent="-313052" lvl="1">
              <a:lnSpc>
                <a:spcPts val="4059"/>
              </a:lnSpc>
              <a:buFont typeface="Arial"/>
              <a:buChar char="•"/>
            </a:pPr>
            <a:r>
              <a:rPr lang="en-US" sz="2899">
                <a:solidFill>
                  <a:srgbClr val="000000"/>
                </a:solidFill>
                <a:latin typeface="Garet"/>
                <a:ea typeface="Garet"/>
                <a:cs typeface="Garet"/>
                <a:sym typeface="Garet"/>
              </a:rPr>
              <a:t>Among key variables, age is the most important driver, with clear nonlinear effects, while education has significantly weaker impact.</a:t>
            </a:r>
          </a:p>
          <a:p>
            <a:pPr algn="just" marL="626104" indent="-313052" lvl="1">
              <a:lnSpc>
                <a:spcPts val="4059"/>
              </a:lnSpc>
              <a:buFont typeface="Arial"/>
              <a:buChar char="•"/>
            </a:pPr>
            <a:r>
              <a:rPr lang="en-US" sz="2899">
                <a:solidFill>
                  <a:srgbClr val="000000"/>
                </a:solidFill>
                <a:latin typeface="Garet"/>
                <a:ea typeface="Garet"/>
                <a:cs typeface="Garet"/>
                <a:sym typeface="Garet"/>
              </a:rPr>
              <a:t>In terms of modeling, feature engineering + SMOTE + LightGBM provides the best performance and stability, while remaining interpretable via SHAP and LIME.</a:t>
            </a:r>
          </a:p>
          <a:p>
            <a:pPr algn="just" marL="626104" indent="-313052" lvl="1">
              <a:lnSpc>
                <a:spcPts val="4059"/>
              </a:lnSpc>
              <a:buFont typeface="Arial"/>
              <a:buChar char="•"/>
            </a:pPr>
            <a:r>
              <a:rPr lang="en-US" sz="2899">
                <a:solidFill>
                  <a:srgbClr val="000000"/>
                </a:solidFill>
                <a:latin typeface="Garet"/>
                <a:ea typeface="Garet"/>
                <a:cs typeface="Garet"/>
                <a:sym typeface="Garet"/>
              </a:rPr>
              <a:t>Fairness analysis reveals clear bias in gender and race, even though sensitive features have low direct importance. This is due to proxy variables (e.g., occupation, marital status) indirectly encoding these attributes.</a:t>
            </a:r>
          </a:p>
          <a:p>
            <a:pPr algn="just" marL="626104" indent="-313052" lvl="1">
              <a:lnSpc>
                <a:spcPts val="4059"/>
              </a:lnSpc>
              <a:buFont typeface="Arial"/>
              <a:buChar char="•"/>
            </a:pPr>
            <a:r>
              <a:rPr lang="en-US" sz="2899">
                <a:solidFill>
                  <a:srgbClr val="000000"/>
                </a:solidFill>
                <a:latin typeface="Garet"/>
                <a:ea typeface="Garet"/>
                <a:cs typeface="Garet"/>
                <a:sym typeface="Garet"/>
              </a:rPr>
              <a:t>Even after controlling for education and working hours, disparities persist, indicating that inequality is embedded in the data structure, not individual ability.</a:t>
            </a:r>
          </a:p>
          <a:p>
            <a:pPr algn="just" marL="431799" indent="-215899" lvl="1">
              <a:lnSpc>
                <a:spcPts val="2799"/>
              </a:lnSpc>
              <a:buFont typeface="Arial"/>
              <a:buChar char="•"/>
            </a:pP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DAHHQUMtAm8</dc:identifier>
  <dcterms:modified xsi:type="dcterms:W3CDTF">2011-08-01T06:04:30Z</dcterms:modified>
  <cp:revision>1</cp:revision>
  <dc:title>INDS_Final_Presentation</dc:title>
</cp:coreProperties>
</file>